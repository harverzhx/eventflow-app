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8" r:id="rId39"/>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67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185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day. We are Marian Muite, John Harvy Baje, and Dave Archie Magsayo, from BS Information System. Our midterm project is EventFlow - a React Native mobile application for event registration and attendance management.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presentation outline. We will start with the problem, then the objectives and target users, walk through the features and every screen of the app, and finish with the architecture and conclusion.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campus events still rely on paper. That means long queues, illegible names, lost sheets, and no reliable way to know who actually attended. Reports take hours to compile. EventFlow addresses this with one mobile tool for creating events, registering participants, and checking people in with a QR code.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general objective was to design and develop a mobile application for event registration and attendance using React Native. Our specific objectives are to provide role-aware access, full event management, participant registration with duplicate prevention, QR generation and scanning, attendance recording, and reports - all through a clean and consistent interface.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EventFlow has three user roles. The Admin creates and manages events, views participants, records attendance, generates reports, and manages accounts. The Staff assistant scans QR codes, verifies registrations, and records attendance. The Participant registers for events and shows a personal QR code at check-in. Each role only sees the tools relevant to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main features: role-based access, event management, participant registration, QR code generation, QR check-in, attendance records, reports, and user management. Each of these will be shown in the screen walkthrough.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matrix defines what each role can do. It is enforced in the app by route guards, which redirect a user away from any screen their role is not allowed to open.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login screen is the entry point. The user picks a demo role, enters any password, and signs in. The selected role decides which screens and tools become available.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sign up screen lets a new participant create an account. The two password fields are compared live, and a mismatch is flagged immediately beneath the Confirm Password field.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dashboard opens with a gradient welcome header and a profile avatar. The summary cards are computed live from the event data. Only the admin sees the five management shortcuts.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same dashboard viewed as a Participant. The layout is identical, but the content adapts to the role - the participant only sees Register, My QR Code, and My Events.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events list shows every event with a date badge, venue, and the number registered against capacity. Admins get a create button; everyone can tap a card to open the full event details.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 details shows everything about an event, including a registration progress bar. The available actions change with the role: admin can edit or delete, participants can register, and staff can only view.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Creating an event is restricted to the admin. The form validates that the required fields are filled and that capacity is greater than zero before the event is saved.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Editing an event reuses the same form as creating one, but pre-filled with the existing values. Saving updates the event everywhere it appears in the app.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Participants browse the open events and register with one tap. The app checks existing registrations first, so the same person cannot register twice for the same event.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Events lists only the signed-in participant's own registrations, with a clear status for each one showing whether they have already been checked in.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QR Code shows the participant's own check-in code, tied to a specific registration. In this prototype the pattern is simulated and labeled as such - it is not a scannable QR because the project has no backend.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scanner is used by staff and admin at the venue. It verifies the registration, checks the participant in, and blocks anyone who has already been checked in or is not registered.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Attendance shows the check-in records for each event, comparing how many registered against how many actually attended. Only admin and staff can see this screen.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participants screen lists everyone registered to an event, with their details and check-in status. Participants cannot view this list, so one attendee never sees another's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Reports summarizes registration and attendance per event, calculated from the same live data used across the app. It is admin-only. The export button currently shows a notice instead of producing a file, because there is no backend in this prototype.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User management lists the demo accounts with their roles and marks the currently signed-in user. It also allows switching the demo role, which makes it easy to demonstrate all three perspectives during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profile screen shows the signed-in user's details with an edit mode. The Log Out button is styled as a destructive action and returns the user to the login screen.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 is built with Expo and React Native using TypeScript. Navigation is file-based with Expo Router. Application state is held in React Context, so events and registrations persist while the app is open but reset on refresh, because there is no backend.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the TypeScript type checker and the linter pass cleanly. Styles are separated from the screens, the design system lives in one theme file, and the permission matrix is enforced in code.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Navigation is file-based using Expo Router. The bottom navigation bar adapts to the role - staff get a Scan shortcut instead of Events. Route guards protect every screen: if a user tries to open a screen their role is not allowed to use, they are redirected back to their dashboard, and if there is no session at all they are sent to login.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demonstration will follow three passes - one per role. First the admin creates and manages an event. Then a participant registers and shows their QR code. Finally, staff scans the QR code to check the participant in, and we show that a duplicate check-in is blocked.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want to be upfront about the scope. This is a frontend UI prototype: there is no backend, so mock data resets on refresh. The role selector is a demo control rather than real authentication, the route guards are not a security boundary, the QR code is simulated, and report export does not produce a real file. We documented these limitations deliberately.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EventFlow delivers a complete and consistent mobile interface for event registration and attendance. We built all 17 screens, three roles with enforced permissions, and the full event lifecycle including QR check-in. It replaces paper sign-in sheets with a reliable digital record that both organizers and participants can trust.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concludes our presentation. Thank you for listening - we are ready for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Before we go into the problem, here is our project scope. EventFlow is a React Native mobile application built with Expo that supports event management, participant registration, and attendance monitoring. It provides three roles - Admin / Organizer, Staff / Assistant, and Participant / Attendee. The admin creates, edits and deletes events; participants browse and register; staff verify participants and record attendance through the app's simulated check-in workflow. The app also provides event information, participant lists, attendance views, and report screens. The current build is a frontend prototype using sample data and in-memory state - there is no persistent database, no real authentication, no camera-based QR scanning, and no functional report export yet. Our focus is the user interface, navigation, the registration workflow, role-based access, and the attendance process.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052560" y="-640080"/>
            <a:ext cx="3108960" cy="3108960"/>
          </a:xfrm>
          <a:prstGeom prst="ellipse">
            <a:avLst/>
          </a:prstGeom>
          <a:solidFill>
            <a:srgbClr val="0F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663440"/>
            <a:ext cx="2743200" cy="2743200"/>
          </a:xfrm>
          <a:prstGeom prst="ellipse">
            <a:avLst/>
          </a:prstGeom>
          <a:solidFill>
            <a:srgbClr val="0A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5120640"/>
            <a:ext cx="2377440" cy="2377440"/>
          </a:xfrm>
          <a:prstGeom prst="ellipse">
            <a:avLst/>
          </a:prstGeom>
          <a:solidFill>
            <a:srgbClr val="0A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874519"/>
            <a:ext cx="10058400" cy="1188720"/>
          </a:xfrm>
          <a:prstGeom prst="rect">
            <a:avLst/>
          </a:prstGeom>
          <a:noFill/>
        </p:spPr>
        <p:txBody>
          <a:bodyPr wrap="square" lIns="0" tIns="0" rIns="0" bIns="0" anchor="t">
            <a:spAutoFit/>
          </a:bodyPr>
          <a:lstStyle/>
          <a:p>
            <a:pPr algn="l">
              <a:lnSpc>
                <a:spcPct val="100000"/>
              </a:lnSpc>
              <a:spcAft>
                <a:spcPts val="0"/>
              </a:spcAft>
            </a:pPr>
            <a:r>
              <a:rPr sz="6200" b="1">
                <a:solidFill>
                  <a:srgbClr val="FFFFFF"/>
                </a:solidFill>
                <a:latin typeface="Segoe UI"/>
              </a:rPr>
              <a:t>EVENTFLOW</a:t>
            </a:r>
          </a:p>
        </p:txBody>
      </p:sp>
      <p:sp>
        <p:nvSpPr>
          <p:cNvPr id="10" name="TextBox 9"/>
          <p:cNvSpPr txBox="1"/>
          <p:nvPr/>
        </p:nvSpPr>
        <p:spPr>
          <a:xfrm>
            <a:off x="932688" y="2907792"/>
            <a:ext cx="10058400" cy="457200"/>
          </a:xfrm>
          <a:prstGeom prst="rect">
            <a:avLst/>
          </a:prstGeom>
          <a:noFill/>
        </p:spPr>
        <p:txBody>
          <a:bodyPr wrap="square" lIns="0" tIns="0" rIns="0" bIns="0" anchor="t">
            <a:spAutoFit/>
          </a:bodyPr>
          <a:lstStyle/>
          <a:p>
            <a:pPr algn="l">
              <a:lnSpc>
                <a:spcPct val="100000"/>
              </a:lnSpc>
              <a:spcAft>
                <a:spcPts val="0"/>
              </a:spcAft>
            </a:pPr>
            <a:r>
              <a:rPr sz="1900" b="0">
                <a:solidFill>
                  <a:srgbClr val="8CC2F0"/>
                </a:solidFill>
                <a:latin typeface="Segoe UI"/>
              </a:rPr>
              <a:t>Event Registration &amp; Attendance Management System</a:t>
            </a:r>
          </a:p>
        </p:txBody>
      </p:sp>
      <p:sp>
        <p:nvSpPr>
          <p:cNvPr id="11" name="Rectangle 10"/>
          <p:cNvSpPr/>
          <p:nvPr/>
        </p:nvSpPr>
        <p:spPr>
          <a:xfrm>
            <a:off x="950976" y="3493008"/>
            <a:ext cx="1463040" cy="5486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50976" y="3794760"/>
            <a:ext cx="5486400" cy="1737360"/>
          </a:xfrm>
          <a:prstGeom prst="rect">
            <a:avLst/>
          </a:prstGeom>
          <a:noFill/>
        </p:spPr>
        <p:txBody>
          <a:bodyPr wrap="square" lIns="0" tIns="0" rIns="0" bIns="0" anchor="t">
            <a:spAutoFit/>
          </a:bodyPr>
          <a:lstStyle/>
          <a:p>
            <a:pPr algn="l">
              <a:lnSpc>
                <a:spcPct val="150000"/>
              </a:lnSpc>
              <a:spcAft>
                <a:spcPts val="0"/>
              </a:spcAft>
            </a:pPr>
            <a:r>
              <a:rPr sz="1500" b="0" dirty="0">
                <a:solidFill>
                  <a:srgbClr val="FFFFFF"/>
                </a:solidFill>
                <a:latin typeface="Segoe UI"/>
              </a:rPr>
              <a:t>A React Native Mobile Application</a:t>
            </a:r>
          </a:p>
          <a:p>
            <a:pPr algn="l">
              <a:lnSpc>
                <a:spcPct val="150000"/>
              </a:lnSpc>
              <a:spcAft>
                <a:spcPts val="0"/>
              </a:spcAft>
            </a:pPr>
            <a:r>
              <a:rPr sz="1300" b="0" dirty="0">
                <a:solidFill>
                  <a:srgbClr val="8CC2F0"/>
                </a:solidFill>
                <a:latin typeface="Segoe UI"/>
              </a:rPr>
              <a:t>Midterm Project  ·  Application Development</a:t>
            </a:r>
          </a:p>
          <a:p>
            <a:pPr algn="l">
              <a:lnSpc>
                <a:spcPct val="150000"/>
              </a:lnSpc>
              <a:spcAft>
                <a:spcPts val="0"/>
              </a:spcAft>
            </a:pPr>
            <a:r>
              <a:rPr sz="1400" b="1" dirty="0">
                <a:solidFill>
                  <a:srgbClr val="8CC2F0"/>
                </a:solidFill>
                <a:latin typeface="Segoe UI"/>
              </a:rPr>
              <a:t>Course:  BS Information System</a:t>
            </a:r>
          </a:p>
        </p:txBody>
      </p:sp>
      <p:sp>
        <p:nvSpPr>
          <p:cNvPr id="13" name="Rounded Rectangle 12"/>
          <p:cNvSpPr/>
          <p:nvPr/>
        </p:nvSpPr>
        <p:spPr>
          <a:xfrm>
            <a:off x="6858000" y="3794760"/>
            <a:ext cx="4389120" cy="713232"/>
          </a:xfrm>
          <a:prstGeom prst="roundRect">
            <a:avLst>
              <a:gd name="adj" fmla="val 12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0" y="3794760"/>
            <a:ext cx="64008" cy="71323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0" y="3913632"/>
            <a:ext cx="4023360" cy="223138"/>
          </a:xfrm>
          <a:prstGeom prst="rect">
            <a:avLst/>
          </a:prstGeom>
          <a:noFill/>
        </p:spPr>
        <p:txBody>
          <a:bodyPr wrap="square" lIns="0" tIns="0" rIns="0" bIns="0" anchor="t">
            <a:spAutoFit/>
          </a:bodyPr>
          <a:lstStyle/>
          <a:p>
            <a:pPr algn="l">
              <a:lnSpc>
                <a:spcPct val="100000"/>
              </a:lnSpc>
              <a:spcAft>
                <a:spcPts val="0"/>
              </a:spcAft>
            </a:pPr>
            <a:r>
              <a:rPr sz="1450" b="1" dirty="0">
                <a:solidFill>
                  <a:srgbClr val="FFFFFF"/>
                </a:solidFill>
                <a:latin typeface="Segoe UI"/>
              </a:rPr>
              <a:t>Marian </a:t>
            </a:r>
            <a:r>
              <a:rPr sz="1450" b="1" dirty="0" err="1">
                <a:solidFill>
                  <a:srgbClr val="FFFFFF"/>
                </a:solidFill>
                <a:latin typeface="Segoe UI"/>
              </a:rPr>
              <a:t>Muit</a:t>
            </a:r>
            <a:endParaRPr sz="1450" b="1" dirty="0">
              <a:solidFill>
                <a:srgbClr val="FFFFFF"/>
              </a:solidFill>
              <a:latin typeface="Segoe UI"/>
            </a:endParaRPr>
          </a:p>
        </p:txBody>
      </p:sp>
      <p:sp>
        <p:nvSpPr>
          <p:cNvPr id="16" name="TextBox 15"/>
          <p:cNvSpPr txBox="1"/>
          <p:nvPr/>
        </p:nvSpPr>
        <p:spPr>
          <a:xfrm>
            <a:off x="7132320" y="4197096"/>
            <a:ext cx="4023360" cy="274320"/>
          </a:xfrm>
          <a:prstGeom prst="rect">
            <a:avLst/>
          </a:prstGeom>
          <a:noFill/>
        </p:spPr>
        <p:txBody>
          <a:bodyPr wrap="square" lIns="0" tIns="0" rIns="0" bIns="0" anchor="t">
            <a:spAutoFit/>
          </a:bodyPr>
          <a:lstStyle/>
          <a:p>
            <a:pPr algn="l">
              <a:lnSpc>
                <a:spcPct val="100000"/>
              </a:lnSpc>
              <a:spcAft>
                <a:spcPts val="0"/>
              </a:spcAft>
            </a:pPr>
            <a:r>
              <a:rPr sz="1050" b="0">
                <a:solidFill>
                  <a:srgbClr val="8CC2F0"/>
                </a:solidFill>
                <a:latin typeface="Segoe UI"/>
              </a:rPr>
              <a:t>Group Member</a:t>
            </a:r>
          </a:p>
        </p:txBody>
      </p:sp>
      <p:sp>
        <p:nvSpPr>
          <p:cNvPr id="17" name="Rounded Rectangle 16"/>
          <p:cNvSpPr/>
          <p:nvPr/>
        </p:nvSpPr>
        <p:spPr>
          <a:xfrm>
            <a:off x="6858000" y="4663440"/>
            <a:ext cx="4389120" cy="713232"/>
          </a:xfrm>
          <a:prstGeom prst="roundRect">
            <a:avLst>
              <a:gd name="adj" fmla="val 12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0" y="4663440"/>
            <a:ext cx="64008" cy="71323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0" y="4782312"/>
            <a:ext cx="4023360" cy="274320"/>
          </a:xfrm>
          <a:prstGeom prst="rect">
            <a:avLst/>
          </a:prstGeom>
          <a:noFill/>
        </p:spPr>
        <p:txBody>
          <a:bodyPr wrap="square" lIns="0" tIns="0" rIns="0" bIns="0" anchor="t">
            <a:spAutoFit/>
          </a:bodyPr>
          <a:lstStyle/>
          <a:p>
            <a:pPr algn="l">
              <a:lnSpc>
                <a:spcPct val="100000"/>
              </a:lnSpc>
              <a:spcAft>
                <a:spcPts val="0"/>
              </a:spcAft>
            </a:pPr>
            <a:r>
              <a:rPr sz="1450" b="1">
                <a:solidFill>
                  <a:srgbClr val="FFFFFF"/>
                </a:solidFill>
                <a:latin typeface="Segoe UI"/>
              </a:rPr>
              <a:t>John Harvy Baje</a:t>
            </a:r>
          </a:p>
        </p:txBody>
      </p:sp>
      <p:sp>
        <p:nvSpPr>
          <p:cNvPr id="20" name="TextBox 19"/>
          <p:cNvSpPr txBox="1"/>
          <p:nvPr/>
        </p:nvSpPr>
        <p:spPr>
          <a:xfrm>
            <a:off x="7132320" y="5065776"/>
            <a:ext cx="4023360" cy="274320"/>
          </a:xfrm>
          <a:prstGeom prst="rect">
            <a:avLst/>
          </a:prstGeom>
          <a:noFill/>
        </p:spPr>
        <p:txBody>
          <a:bodyPr wrap="square" lIns="0" tIns="0" rIns="0" bIns="0" anchor="t">
            <a:spAutoFit/>
          </a:bodyPr>
          <a:lstStyle/>
          <a:p>
            <a:pPr algn="l">
              <a:lnSpc>
                <a:spcPct val="100000"/>
              </a:lnSpc>
              <a:spcAft>
                <a:spcPts val="0"/>
              </a:spcAft>
            </a:pPr>
            <a:r>
              <a:rPr sz="1050" b="0">
                <a:solidFill>
                  <a:srgbClr val="8CC2F0"/>
                </a:solidFill>
                <a:latin typeface="Segoe UI"/>
              </a:rPr>
              <a:t>Group Member</a:t>
            </a:r>
          </a:p>
        </p:txBody>
      </p:sp>
      <p:sp>
        <p:nvSpPr>
          <p:cNvPr id="21" name="Rounded Rectangle 20"/>
          <p:cNvSpPr/>
          <p:nvPr/>
        </p:nvSpPr>
        <p:spPr>
          <a:xfrm>
            <a:off x="6858000" y="5532120"/>
            <a:ext cx="4389120" cy="713232"/>
          </a:xfrm>
          <a:prstGeom prst="roundRect">
            <a:avLst>
              <a:gd name="adj" fmla="val 12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0" y="5532120"/>
            <a:ext cx="64008" cy="71323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0" y="5650992"/>
            <a:ext cx="4023360" cy="274320"/>
          </a:xfrm>
          <a:prstGeom prst="rect">
            <a:avLst/>
          </a:prstGeom>
          <a:noFill/>
        </p:spPr>
        <p:txBody>
          <a:bodyPr wrap="square" lIns="0" tIns="0" rIns="0" bIns="0" anchor="t">
            <a:spAutoFit/>
          </a:bodyPr>
          <a:lstStyle/>
          <a:p>
            <a:pPr algn="l">
              <a:lnSpc>
                <a:spcPct val="100000"/>
              </a:lnSpc>
              <a:spcAft>
                <a:spcPts val="0"/>
              </a:spcAft>
            </a:pPr>
            <a:r>
              <a:rPr sz="1450" b="1">
                <a:solidFill>
                  <a:srgbClr val="FFFFFF"/>
                </a:solidFill>
                <a:latin typeface="Segoe UI"/>
              </a:rPr>
              <a:t>Dave Archie Magsayo</a:t>
            </a:r>
          </a:p>
        </p:txBody>
      </p:sp>
      <p:sp>
        <p:nvSpPr>
          <p:cNvPr id="24" name="TextBox 23"/>
          <p:cNvSpPr txBox="1"/>
          <p:nvPr/>
        </p:nvSpPr>
        <p:spPr>
          <a:xfrm>
            <a:off x="7132320" y="5934456"/>
            <a:ext cx="4023360" cy="274320"/>
          </a:xfrm>
          <a:prstGeom prst="rect">
            <a:avLst/>
          </a:prstGeom>
          <a:noFill/>
        </p:spPr>
        <p:txBody>
          <a:bodyPr wrap="square" lIns="0" tIns="0" rIns="0" bIns="0" anchor="t">
            <a:spAutoFit/>
          </a:bodyPr>
          <a:lstStyle/>
          <a:p>
            <a:pPr algn="l">
              <a:lnSpc>
                <a:spcPct val="100000"/>
              </a:lnSpc>
              <a:spcAft>
                <a:spcPts val="0"/>
              </a:spcAft>
            </a:pPr>
            <a:r>
              <a:rPr sz="1050" b="0">
                <a:solidFill>
                  <a:srgbClr val="8CC2F0"/>
                </a:solidFill>
                <a:latin typeface="Segoe UI"/>
              </a:rPr>
              <a:t>Group Member</a:t>
            </a:r>
          </a:p>
        </p:txBody>
      </p:sp>
      <p:pic>
        <p:nvPicPr>
          <p:cNvPr id="26" name="Graphic 25">
            <a:extLst>
              <a:ext uri="{FF2B5EF4-FFF2-40B4-BE49-F238E27FC236}">
                <a16:creationId xmlns:a16="http://schemas.microsoft.com/office/drawing/2014/main" id="{D5574E18-A0A6-CA9D-1110-8EF2E6F19C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976" y="537210"/>
            <a:ext cx="1056132" cy="10561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AGENDA</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Presentation Outline</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73352"/>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92224"/>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01</a:t>
            </a:r>
          </a:p>
        </p:txBody>
      </p:sp>
      <p:sp>
        <p:nvSpPr>
          <p:cNvPr id="9" name="TextBox 8"/>
          <p:cNvSpPr txBox="1"/>
          <p:nvPr/>
        </p:nvSpPr>
        <p:spPr>
          <a:xfrm>
            <a:off x="1417319" y="1801368"/>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Application Title &amp; Group Members</a:t>
            </a:r>
          </a:p>
        </p:txBody>
      </p:sp>
      <p:sp>
        <p:nvSpPr>
          <p:cNvPr id="10" name="Rounded Rectangle 9"/>
          <p:cNvSpPr/>
          <p:nvPr/>
        </p:nvSpPr>
        <p:spPr>
          <a:xfrm>
            <a:off x="640080" y="2459736"/>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578608"/>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02</a:t>
            </a:r>
          </a:p>
        </p:txBody>
      </p:sp>
      <p:sp>
        <p:nvSpPr>
          <p:cNvPr id="12" name="TextBox 11"/>
          <p:cNvSpPr txBox="1"/>
          <p:nvPr/>
        </p:nvSpPr>
        <p:spPr>
          <a:xfrm>
            <a:off x="1417319" y="2587752"/>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Background / Problem</a:t>
            </a:r>
          </a:p>
        </p:txBody>
      </p:sp>
      <p:sp>
        <p:nvSpPr>
          <p:cNvPr id="13" name="Rounded Rectangle 12"/>
          <p:cNvSpPr/>
          <p:nvPr/>
        </p:nvSpPr>
        <p:spPr>
          <a:xfrm>
            <a:off x="640080" y="3246120"/>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364991"/>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03</a:t>
            </a:r>
          </a:p>
        </p:txBody>
      </p:sp>
      <p:sp>
        <p:nvSpPr>
          <p:cNvPr id="15" name="TextBox 14"/>
          <p:cNvSpPr txBox="1"/>
          <p:nvPr/>
        </p:nvSpPr>
        <p:spPr>
          <a:xfrm>
            <a:off x="1417319" y="3374136"/>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Objectives</a:t>
            </a:r>
          </a:p>
        </p:txBody>
      </p:sp>
      <p:sp>
        <p:nvSpPr>
          <p:cNvPr id="16" name="Rounded Rectangle 15"/>
          <p:cNvSpPr/>
          <p:nvPr/>
        </p:nvSpPr>
        <p:spPr>
          <a:xfrm>
            <a:off x="640080" y="4032504"/>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4151376"/>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04</a:t>
            </a:r>
          </a:p>
        </p:txBody>
      </p:sp>
      <p:sp>
        <p:nvSpPr>
          <p:cNvPr id="18" name="TextBox 17"/>
          <p:cNvSpPr txBox="1"/>
          <p:nvPr/>
        </p:nvSpPr>
        <p:spPr>
          <a:xfrm>
            <a:off x="1417319" y="4160520"/>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Target Users</a:t>
            </a:r>
          </a:p>
        </p:txBody>
      </p:sp>
      <p:sp>
        <p:nvSpPr>
          <p:cNvPr id="19" name="Rounded Rectangle 18"/>
          <p:cNvSpPr/>
          <p:nvPr/>
        </p:nvSpPr>
        <p:spPr>
          <a:xfrm>
            <a:off x="640080" y="4818888"/>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937759"/>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05</a:t>
            </a:r>
          </a:p>
        </p:txBody>
      </p:sp>
      <p:sp>
        <p:nvSpPr>
          <p:cNvPr id="21" name="TextBox 20"/>
          <p:cNvSpPr txBox="1"/>
          <p:nvPr/>
        </p:nvSpPr>
        <p:spPr>
          <a:xfrm>
            <a:off x="1417319" y="4946903"/>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Main Features</a:t>
            </a:r>
          </a:p>
        </p:txBody>
      </p:sp>
      <p:sp>
        <p:nvSpPr>
          <p:cNvPr id="22" name="Rounded Rectangle 21"/>
          <p:cNvSpPr/>
          <p:nvPr/>
        </p:nvSpPr>
        <p:spPr>
          <a:xfrm>
            <a:off x="6309360" y="1673352"/>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1792224"/>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06</a:t>
            </a:r>
          </a:p>
        </p:txBody>
      </p:sp>
      <p:sp>
        <p:nvSpPr>
          <p:cNvPr id="24" name="TextBox 23"/>
          <p:cNvSpPr txBox="1"/>
          <p:nvPr/>
        </p:nvSpPr>
        <p:spPr>
          <a:xfrm>
            <a:off x="7086600" y="1801368"/>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Roles &amp; Permissions</a:t>
            </a:r>
          </a:p>
        </p:txBody>
      </p:sp>
      <p:sp>
        <p:nvSpPr>
          <p:cNvPr id="25" name="Rounded Rectangle 24"/>
          <p:cNvSpPr/>
          <p:nvPr/>
        </p:nvSpPr>
        <p:spPr>
          <a:xfrm>
            <a:off x="6309360" y="2459736"/>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2578608"/>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07</a:t>
            </a:r>
          </a:p>
        </p:txBody>
      </p:sp>
      <p:sp>
        <p:nvSpPr>
          <p:cNvPr id="27" name="TextBox 26"/>
          <p:cNvSpPr txBox="1"/>
          <p:nvPr/>
        </p:nvSpPr>
        <p:spPr>
          <a:xfrm>
            <a:off x="7086600" y="2587752"/>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UI / Screen Overview</a:t>
            </a:r>
          </a:p>
        </p:txBody>
      </p:sp>
      <p:sp>
        <p:nvSpPr>
          <p:cNvPr id="28" name="Rounded Rectangle 27"/>
          <p:cNvSpPr/>
          <p:nvPr/>
        </p:nvSpPr>
        <p:spPr>
          <a:xfrm>
            <a:off x="6309360" y="3246120"/>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3364991"/>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08</a:t>
            </a:r>
          </a:p>
        </p:txBody>
      </p:sp>
      <p:sp>
        <p:nvSpPr>
          <p:cNvPr id="30" name="TextBox 29"/>
          <p:cNvSpPr txBox="1"/>
          <p:nvPr/>
        </p:nvSpPr>
        <p:spPr>
          <a:xfrm>
            <a:off x="7086600" y="3374136"/>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System Architecture</a:t>
            </a:r>
          </a:p>
        </p:txBody>
      </p:sp>
      <p:sp>
        <p:nvSpPr>
          <p:cNvPr id="31" name="Rounded Rectangle 30"/>
          <p:cNvSpPr/>
          <p:nvPr/>
        </p:nvSpPr>
        <p:spPr>
          <a:xfrm>
            <a:off x="6309360" y="4032504"/>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09360" y="4151376"/>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09</a:t>
            </a:r>
          </a:p>
        </p:txBody>
      </p:sp>
      <p:sp>
        <p:nvSpPr>
          <p:cNvPr id="33" name="TextBox 32"/>
          <p:cNvSpPr txBox="1"/>
          <p:nvPr/>
        </p:nvSpPr>
        <p:spPr>
          <a:xfrm>
            <a:off x="7086600" y="4160520"/>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Navigation &amp; User Flow</a:t>
            </a:r>
          </a:p>
        </p:txBody>
      </p:sp>
      <p:sp>
        <p:nvSpPr>
          <p:cNvPr id="34" name="Rounded Rectangle 33"/>
          <p:cNvSpPr/>
          <p:nvPr/>
        </p:nvSpPr>
        <p:spPr>
          <a:xfrm>
            <a:off x="6309360" y="4818888"/>
            <a:ext cx="566928" cy="566928"/>
          </a:xfrm>
          <a:prstGeom prst="roundRect">
            <a:avLst>
              <a:gd name="adj" fmla="val 2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09360" y="4937759"/>
            <a:ext cx="566928" cy="365760"/>
          </a:xfrm>
          <a:prstGeom prst="rect">
            <a:avLst/>
          </a:prstGeom>
          <a:noFill/>
        </p:spPr>
        <p:txBody>
          <a:bodyPr wrap="square" lIns="0" tIns="0" rIns="0" bIns="0" anchor="t">
            <a:spAutoFit/>
          </a:bodyPr>
          <a:lstStyle/>
          <a:p>
            <a:pPr algn="ctr">
              <a:lnSpc>
                <a:spcPct val="100000"/>
              </a:lnSpc>
              <a:spcAft>
                <a:spcPts val="0"/>
              </a:spcAft>
            </a:pPr>
            <a:r>
              <a:rPr sz="1700" b="1">
                <a:solidFill>
                  <a:srgbClr val="0274DF"/>
                </a:solidFill>
                <a:latin typeface="Segoe UI"/>
              </a:rPr>
              <a:t>10</a:t>
            </a:r>
          </a:p>
        </p:txBody>
      </p:sp>
      <p:sp>
        <p:nvSpPr>
          <p:cNvPr id="36" name="TextBox 35"/>
          <p:cNvSpPr txBox="1"/>
          <p:nvPr/>
        </p:nvSpPr>
        <p:spPr>
          <a:xfrm>
            <a:off x="7086600" y="4946903"/>
            <a:ext cx="4480560" cy="365760"/>
          </a:xfrm>
          <a:prstGeom prst="rect">
            <a:avLst/>
          </a:prstGeom>
          <a:noFill/>
        </p:spPr>
        <p:txBody>
          <a:bodyPr wrap="square" lIns="0" tIns="0" rIns="0" bIns="0" anchor="t">
            <a:spAutoFit/>
          </a:bodyPr>
          <a:lstStyle/>
          <a:p>
            <a:pPr algn="l">
              <a:lnSpc>
                <a:spcPct val="100000"/>
              </a:lnSpc>
              <a:spcAft>
                <a:spcPts val="0"/>
              </a:spcAft>
            </a:pPr>
            <a:r>
              <a:rPr sz="1550" b="1">
                <a:solidFill>
                  <a:srgbClr val="0B1F3A"/>
                </a:solidFill>
                <a:latin typeface="Segoe UI"/>
              </a:rPr>
              <a:t>Limitations &amp; Conclusion</a:t>
            </a:r>
          </a:p>
        </p:txBody>
      </p:sp>
      <p:sp>
        <p:nvSpPr>
          <p:cNvPr id="37" name="TextBox 36"/>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38" name="TextBox 37"/>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BACKGROUND</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The Problem</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17904"/>
            <a:ext cx="10881360" cy="457200"/>
          </a:xfrm>
          <a:prstGeom prst="rect">
            <a:avLst/>
          </a:prstGeom>
          <a:noFill/>
        </p:spPr>
        <p:txBody>
          <a:bodyPr wrap="square" lIns="0" tIns="0" rIns="0" bIns="0" anchor="t">
            <a:spAutoFit/>
          </a:bodyPr>
          <a:lstStyle/>
          <a:p>
            <a:pPr algn="l">
              <a:lnSpc>
                <a:spcPct val="100000"/>
              </a:lnSpc>
              <a:spcAft>
                <a:spcPts val="0"/>
              </a:spcAft>
            </a:pPr>
            <a:r>
              <a:rPr sz="1600" b="0">
                <a:solidFill>
                  <a:srgbClr val="5A6B82"/>
                </a:solidFill>
                <a:latin typeface="Segoe UI"/>
              </a:rPr>
              <a:t>Campus events are still managed manually — paper sign-in sheets, spreadsheets, and manual head counts.</a:t>
            </a:r>
          </a:p>
        </p:txBody>
      </p:sp>
      <p:sp>
        <p:nvSpPr>
          <p:cNvPr id="8" name="TextBox 7"/>
          <p:cNvSpPr txBox="1"/>
          <p:nvPr/>
        </p:nvSpPr>
        <p:spPr>
          <a:xfrm>
            <a:off x="640080" y="2221992"/>
            <a:ext cx="5760720" cy="3931920"/>
          </a:xfrm>
          <a:prstGeom prst="rect">
            <a:avLst/>
          </a:prstGeom>
          <a:noFill/>
        </p:spPr>
        <p:txBody>
          <a:bodyPr wrap="square" lIns="0" tIns="0" rIns="0" bIns="0">
            <a:spAutoFit/>
          </a:bodyPr>
          <a:lstStyle/>
          <a:p>
            <a:pPr>
              <a:lnSpc>
                <a:spcPct val="105000"/>
              </a:lnSpc>
              <a:spcAft>
                <a:spcPts val="1500"/>
              </a:spcAft>
            </a:pPr>
            <a:r>
              <a:rPr sz="1550" b="1">
                <a:solidFill>
                  <a:srgbClr val="0274DF"/>
                </a:solidFill>
                <a:latin typeface="Segoe UI"/>
              </a:rPr>
              <a:t>▪  </a:t>
            </a:r>
            <a:r>
              <a:rPr sz="1550" b="0">
                <a:solidFill>
                  <a:srgbClr val="12233D"/>
                </a:solidFill>
                <a:latin typeface="Segoe UI"/>
              </a:rPr>
              <a:t>Long queues at the registration table on event day</a:t>
            </a:r>
          </a:p>
          <a:p>
            <a:pPr>
              <a:lnSpc>
                <a:spcPct val="105000"/>
              </a:lnSpc>
              <a:spcAft>
                <a:spcPts val="1500"/>
              </a:spcAft>
            </a:pPr>
            <a:r>
              <a:rPr sz="1550" b="1">
                <a:solidFill>
                  <a:srgbClr val="0274DF"/>
                </a:solidFill>
                <a:latin typeface="Segoe UI"/>
              </a:rPr>
              <a:t>▪  </a:t>
            </a:r>
            <a:r>
              <a:rPr sz="1550" b="0">
                <a:solidFill>
                  <a:srgbClr val="12233D"/>
                </a:solidFill>
                <a:latin typeface="Segoe UI"/>
              </a:rPr>
              <a:t>Illegible handwritten names and lost sign-in sheets</a:t>
            </a:r>
          </a:p>
          <a:p>
            <a:pPr>
              <a:lnSpc>
                <a:spcPct val="105000"/>
              </a:lnSpc>
              <a:spcAft>
                <a:spcPts val="1500"/>
              </a:spcAft>
            </a:pPr>
            <a:r>
              <a:rPr sz="1550" b="1">
                <a:solidFill>
                  <a:srgbClr val="0274DF"/>
                </a:solidFill>
                <a:latin typeface="Segoe UI"/>
              </a:rPr>
              <a:t>▪  </a:t>
            </a:r>
            <a:r>
              <a:rPr sz="1550" b="0">
                <a:solidFill>
                  <a:srgbClr val="12233D"/>
                </a:solidFill>
                <a:latin typeface="Segoe UI"/>
              </a:rPr>
              <a:t>No way to separate “registered” from “actually attended”</a:t>
            </a:r>
          </a:p>
          <a:p>
            <a:pPr>
              <a:lnSpc>
                <a:spcPct val="105000"/>
              </a:lnSpc>
              <a:spcAft>
                <a:spcPts val="1500"/>
              </a:spcAft>
            </a:pPr>
            <a:r>
              <a:rPr sz="1550" b="1">
                <a:solidFill>
                  <a:srgbClr val="0274DF"/>
                </a:solidFill>
                <a:latin typeface="Segoe UI"/>
              </a:rPr>
              <a:t>▪  </a:t>
            </a:r>
            <a:r>
              <a:rPr sz="1550" b="0">
                <a:solidFill>
                  <a:srgbClr val="12233D"/>
                </a:solidFill>
                <a:latin typeface="Segoe UI"/>
              </a:rPr>
              <a:t>No live count of how many seats are still available</a:t>
            </a:r>
          </a:p>
          <a:p>
            <a:pPr>
              <a:lnSpc>
                <a:spcPct val="105000"/>
              </a:lnSpc>
              <a:spcAft>
                <a:spcPts val="1500"/>
              </a:spcAft>
            </a:pPr>
            <a:r>
              <a:rPr sz="1550" b="1">
                <a:solidFill>
                  <a:srgbClr val="0274DF"/>
                </a:solidFill>
                <a:latin typeface="Segoe UI"/>
              </a:rPr>
              <a:t>▪  </a:t>
            </a:r>
            <a:r>
              <a:rPr sz="1550" b="0">
                <a:solidFill>
                  <a:srgbClr val="12233D"/>
                </a:solidFill>
                <a:latin typeface="Segoe UI"/>
              </a:rPr>
              <a:t>Reports are compiled by hand and take hours</a:t>
            </a:r>
          </a:p>
          <a:p>
            <a:pPr>
              <a:lnSpc>
                <a:spcPct val="105000"/>
              </a:lnSpc>
              <a:spcAft>
                <a:spcPts val="1500"/>
              </a:spcAft>
            </a:pPr>
            <a:r>
              <a:rPr sz="1550" b="1">
                <a:solidFill>
                  <a:srgbClr val="0274DF"/>
                </a:solidFill>
                <a:latin typeface="Segoe UI"/>
              </a:rPr>
              <a:t>▪  </a:t>
            </a:r>
            <a:r>
              <a:rPr sz="1550" b="0">
                <a:solidFill>
                  <a:srgbClr val="12233D"/>
                </a:solidFill>
                <a:latin typeface="Segoe UI"/>
              </a:rPr>
              <a:t>Participants have no proof of registration or check-in</a:t>
            </a:r>
          </a:p>
        </p:txBody>
      </p:sp>
      <p:sp>
        <p:nvSpPr>
          <p:cNvPr id="9" name="Rounded Rectangle 8"/>
          <p:cNvSpPr/>
          <p:nvPr/>
        </p:nvSpPr>
        <p:spPr>
          <a:xfrm>
            <a:off x="6812280" y="2176272"/>
            <a:ext cx="4754880" cy="3977639"/>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12280" y="2176272"/>
            <a:ext cx="64008" cy="3977639"/>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86600" y="2432304"/>
            <a:ext cx="4206240" cy="36576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The Need</a:t>
            </a:r>
          </a:p>
        </p:txBody>
      </p:sp>
      <p:sp>
        <p:nvSpPr>
          <p:cNvPr id="12" name="TextBox 11"/>
          <p:cNvSpPr txBox="1"/>
          <p:nvPr/>
        </p:nvSpPr>
        <p:spPr>
          <a:xfrm>
            <a:off x="7086600" y="2907792"/>
            <a:ext cx="4206240" cy="3017520"/>
          </a:xfrm>
          <a:prstGeom prst="rect">
            <a:avLst/>
          </a:prstGeom>
          <a:noFill/>
        </p:spPr>
        <p:txBody>
          <a:bodyPr wrap="square" lIns="0" tIns="0" rIns="0" bIns="0" anchor="t">
            <a:spAutoFit/>
          </a:bodyPr>
          <a:lstStyle/>
          <a:p>
            <a:pPr algn="l">
              <a:lnSpc>
                <a:spcPct val="135000"/>
              </a:lnSpc>
              <a:spcAft>
                <a:spcPts val="0"/>
              </a:spcAft>
            </a:pPr>
            <a:r>
              <a:rPr sz="1500" b="0">
                <a:solidFill>
                  <a:srgbClr val="12233D"/>
                </a:solidFill>
                <a:latin typeface="Segoe UI"/>
              </a:rPr>
              <a:t>A single mobile tool where organizers can </a:t>
            </a:r>
          </a:p>
          <a:p>
            <a:pPr algn="l">
              <a:lnSpc>
                <a:spcPct val="135000"/>
              </a:lnSpc>
              <a:spcAft>
                <a:spcPts val="0"/>
              </a:spcAft>
            </a:pPr>
            <a:r>
              <a:rPr sz="1500" b="1">
                <a:solidFill>
                  <a:srgbClr val="0274DF"/>
                </a:solidFill>
                <a:latin typeface="Segoe UI"/>
              </a:rPr>
              <a:t>create events</a:t>
            </a:r>
          </a:p>
          <a:p>
            <a:pPr algn="l">
              <a:lnSpc>
                <a:spcPct val="135000"/>
              </a:lnSpc>
              <a:spcAft>
                <a:spcPts val="0"/>
              </a:spcAft>
            </a:pPr>
            <a:r>
              <a:rPr sz="1500" b="0">
                <a:solidFill>
                  <a:srgbClr val="12233D"/>
                </a:solidFill>
                <a:latin typeface="Segoe UI"/>
              </a:rPr>
              <a:t>, participants can </a:t>
            </a:r>
          </a:p>
          <a:p>
            <a:pPr algn="l">
              <a:lnSpc>
                <a:spcPct val="135000"/>
              </a:lnSpc>
              <a:spcAft>
                <a:spcPts val="0"/>
              </a:spcAft>
            </a:pPr>
            <a:r>
              <a:rPr sz="1500" b="1">
                <a:solidFill>
                  <a:srgbClr val="0274DF"/>
                </a:solidFill>
                <a:latin typeface="Segoe UI"/>
              </a:rPr>
              <a:t>register</a:t>
            </a:r>
          </a:p>
          <a:p>
            <a:pPr algn="l">
              <a:lnSpc>
                <a:spcPct val="135000"/>
              </a:lnSpc>
              <a:spcAft>
                <a:spcPts val="0"/>
              </a:spcAft>
            </a:pPr>
            <a:r>
              <a:rPr sz="1500" b="0">
                <a:solidFill>
                  <a:srgbClr val="12233D"/>
                </a:solidFill>
                <a:latin typeface="Segoe UI"/>
              </a:rPr>
              <a:t>, and attendance is captured with a </a:t>
            </a:r>
          </a:p>
          <a:p>
            <a:pPr algn="l">
              <a:lnSpc>
                <a:spcPct val="135000"/>
              </a:lnSpc>
              <a:spcAft>
                <a:spcPts val="0"/>
              </a:spcAft>
            </a:pPr>
            <a:r>
              <a:rPr sz="1500" b="1">
                <a:solidFill>
                  <a:srgbClr val="0274DF"/>
                </a:solidFill>
                <a:latin typeface="Segoe UI"/>
              </a:rPr>
              <a:t>QR check-in</a:t>
            </a:r>
          </a:p>
          <a:p>
            <a:pPr algn="l">
              <a:lnSpc>
                <a:spcPct val="135000"/>
              </a:lnSpc>
              <a:spcAft>
                <a:spcPts val="0"/>
              </a:spcAft>
            </a:pPr>
            <a:r>
              <a:rPr sz="1500" b="0">
                <a:solidFill>
                  <a:srgbClr val="12233D"/>
                </a:solidFill>
                <a:latin typeface="Segoe UI"/>
              </a:rPr>
              <a:t> — all in real time.</a:t>
            </a:r>
          </a:p>
        </p:txBody>
      </p:sp>
      <p:sp>
        <p:nvSpPr>
          <p:cNvPr id="13" name="TextBox 12"/>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4" name="TextBox 13"/>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WHAT WE SET OUT TO DO</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Objectives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581912"/>
            <a:ext cx="10881360" cy="914400"/>
          </a:xfrm>
          <a:prstGeom prst="roundRect">
            <a:avLst>
              <a:gd name="adj" fmla="val 9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81912"/>
            <a:ext cx="64008" cy="91440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719072"/>
            <a:ext cx="10332720" cy="685800"/>
          </a:xfrm>
          <a:prstGeom prst="rect">
            <a:avLst/>
          </a:prstGeom>
          <a:noFill/>
        </p:spPr>
        <p:txBody>
          <a:bodyPr wrap="square" lIns="0" tIns="0" rIns="0" bIns="0" anchor="t">
            <a:spAutoFit/>
          </a:bodyPr>
          <a:lstStyle/>
          <a:p>
            <a:pPr algn="l">
              <a:lnSpc>
                <a:spcPct val="125000"/>
              </a:lnSpc>
              <a:spcAft>
                <a:spcPts val="400"/>
              </a:spcAft>
            </a:pPr>
            <a:r>
              <a:rPr sz="1100" b="1">
                <a:solidFill>
                  <a:srgbClr val="0274DF"/>
                </a:solidFill>
                <a:latin typeface="Segoe UI"/>
              </a:rPr>
              <a:t>GENERAL OBJECTIVE</a:t>
            </a:r>
          </a:p>
          <a:p>
            <a:pPr algn="l">
              <a:lnSpc>
                <a:spcPct val="125000"/>
              </a:lnSpc>
              <a:spcAft>
                <a:spcPts val="400"/>
              </a:spcAft>
            </a:pPr>
            <a:r>
              <a:rPr sz="1550" b="0">
                <a:solidFill>
                  <a:srgbClr val="0B1F3A"/>
                </a:solidFill>
                <a:latin typeface="Segoe UI"/>
              </a:rPr>
              <a:t>To design and develop a mobile application that manages event registration and attendance using React Native.</a:t>
            </a:r>
          </a:p>
        </p:txBody>
      </p:sp>
      <p:sp>
        <p:nvSpPr>
          <p:cNvPr id="10" name="TextBox 9"/>
          <p:cNvSpPr txBox="1"/>
          <p:nvPr/>
        </p:nvSpPr>
        <p:spPr>
          <a:xfrm>
            <a:off x="658368" y="2770632"/>
            <a:ext cx="10881360" cy="32004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SPECIFIC OBJECTIVES</a:t>
            </a:r>
          </a:p>
        </p:txBody>
      </p:sp>
      <p:sp>
        <p:nvSpPr>
          <p:cNvPr id="11" name="TextBox 10"/>
          <p:cNvSpPr txBox="1"/>
          <p:nvPr/>
        </p:nvSpPr>
        <p:spPr>
          <a:xfrm>
            <a:off x="658368" y="3182112"/>
            <a:ext cx="10881360" cy="3108960"/>
          </a:xfrm>
          <a:prstGeom prst="rect">
            <a:avLst/>
          </a:prstGeom>
          <a:noFill/>
        </p:spPr>
        <p:txBody>
          <a:bodyPr wrap="square" lIns="0" tIns="0" rIns="0" bIns="0">
            <a:spAutoFit/>
          </a:bodyPr>
          <a:lstStyle/>
          <a:p>
            <a:pPr>
              <a:lnSpc>
                <a:spcPct val="105000"/>
              </a:lnSpc>
              <a:spcAft>
                <a:spcPts val="1000"/>
              </a:spcAft>
            </a:pPr>
            <a:r>
              <a:rPr sz="1450" b="1">
                <a:solidFill>
                  <a:srgbClr val="0274DF"/>
                </a:solidFill>
                <a:latin typeface="Segoe UI"/>
              </a:rPr>
              <a:t>▪  </a:t>
            </a:r>
            <a:r>
              <a:rPr sz="1450" b="0">
                <a:solidFill>
                  <a:srgbClr val="12233D"/>
                </a:solidFill>
                <a:latin typeface="Segoe UI"/>
              </a:rPr>
              <a:t>Provide a single, role-aware login for Admin, Staff, and Participant users</a:t>
            </a:r>
          </a:p>
          <a:p>
            <a:pPr>
              <a:lnSpc>
                <a:spcPct val="105000"/>
              </a:lnSpc>
              <a:spcAft>
                <a:spcPts val="1000"/>
              </a:spcAft>
            </a:pPr>
            <a:r>
              <a:rPr sz="1450" b="1">
                <a:solidFill>
                  <a:srgbClr val="0274DF"/>
                </a:solidFill>
                <a:latin typeface="Segoe UI"/>
              </a:rPr>
              <a:t>▪  </a:t>
            </a:r>
            <a:r>
              <a:rPr sz="1450" b="0">
                <a:solidFill>
                  <a:srgbClr val="12233D"/>
                </a:solidFill>
                <a:latin typeface="Segoe UI"/>
              </a:rPr>
              <a:t>Allow organizers to create, view, edit, and delete events</a:t>
            </a:r>
          </a:p>
          <a:p>
            <a:pPr>
              <a:lnSpc>
                <a:spcPct val="105000"/>
              </a:lnSpc>
              <a:spcAft>
                <a:spcPts val="1000"/>
              </a:spcAft>
            </a:pPr>
            <a:r>
              <a:rPr sz="1450" b="1">
                <a:solidFill>
                  <a:srgbClr val="0274DF"/>
                </a:solidFill>
                <a:latin typeface="Segoe UI"/>
              </a:rPr>
              <a:t>▪  </a:t>
            </a:r>
            <a:r>
              <a:rPr sz="1450" b="0">
                <a:solidFill>
                  <a:srgbClr val="12233D"/>
                </a:solidFill>
                <a:latin typeface="Segoe UI"/>
              </a:rPr>
              <a:t>Let participants register for events and prevent duplicate registration</a:t>
            </a:r>
          </a:p>
          <a:p>
            <a:pPr>
              <a:lnSpc>
                <a:spcPct val="105000"/>
              </a:lnSpc>
              <a:spcAft>
                <a:spcPts val="1000"/>
              </a:spcAft>
            </a:pPr>
            <a:r>
              <a:rPr sz="1450" b="1">
                <a:solidFill>
                  <a:srgbClr val="0274DF"/>
                </a:solidFill>
                <a:latin typeface="Segoe UI"/>
              </a:rPr>
              <a:t>▪  </a:t>
            </a:r>
            <a:r>
              <a:rPr sz="1450" b="0">
                <a:solidFill>
                  <a:srgbClr val="12233D"/>
                </a:solidFill>
                <a:latin typeface="Segoe UI"/>
              </a:rPr>
              <a:t>Generate a personal QR code for each participant registration</a:t>
            </a:r>
          </a:p>
          <a:p>
            <a:pPr>
              <a:lnSpc>
                <a:spcPct val="105000"/>
              </a:lnSpc>
              <a:spcAft>
                <a:spcPts val="1000"/>
              </a:spcAft>
            </a:pPr>
            <a:r>
              <a:rPr sz="1450" b="1">
                <a:solidFill>
                  <a:srgbClr val="0274DF"/>
                </a:solidFill>
                <a:latin typeface="Segoe UI"/>
              </a:rPr>
              <a:t>▪  </a:t>
            </a:r>
            <a:r>
              <a:rPr sz="1450" b="0">
                <a:solidFill>
                  <a:srgbClr val="12233D"/>
                </a:solidFill>
                <a:latin typeface="Segoe UI"/>
              </a:rPr>
              <a:t>Verify registration and record attendance through a QR check-in</a:t>
            </a:r>
          </a:p>
          <a:p>
            <a:pPr>
              <a:lnSpc>
                <a:spcPct val="105000"/>
              </a:lnSpc>
              <a:spcAft>
                <a:spcPts val="1000"/>
              </a:spcAft>
            </a:pPr>
            <a:r>
              <a:rPr sz="1450" b="1">
                <a:solidFill>
                  <a:srgbClr val="0274DF"/>
                </a:solidFill>
                <a:latin typeface="Segoe UI"/>
              </a:rPr>
              <a:t>▪  </a:t>
            </a:r>
            <a:r>
              <a:rPr sz="1450" b="0">
                <a:solidFill>
                  <a:srgbClr val="12233D"/>
                </a:solidFill>
                <a:latin typeface="Segoe UI"/>
              </a:rPr>
              <a:t>Prevent duplicate check-ins and surface the attendance record</a:t>
            </a:r>
          </a:p>
          <a:p>
            <a:pPr>
              <a:lnSpc>
                <a:spcPct val="105000"/>
              </a:lnSpc>
              <a:spcAft>
                <a:spcPts val="1000"/>
              </a:spcAft>
            </a:pPr>
            <a:r>
              <a:rPr sz="1450" b="1">
                <a:solidFill>
                  <a:srgbClr val="0274DF"/>
                </a:solidFill>
                <a:latin typeface="Segoe UI"/>
              </a:rPr>
              <a:t>▪  </a:t>
            </a:r>
            <a:r>
              <a:rPr sz="1450" b="0">
                <a:solidFill>
                  <a:srgbClr val="12233D"/>
                </a:solidFill>
                <a:latin typeface="Segoe UI"/>
              </a:rPr>
              <a:t>Produce registration and attendance reports per event</a:t>
            </a:r>
          </a:p>
          <a:p>
            <a:pPr>
              <a:lnSpc>
                <a:spcPct val="105000"/>
              </a:lnSpc>
              <a:spcAft>
                <a:spcPts val="1000"/>
              </a:spcAft>
            </a:pPr>
            <a:r>
              <a:rPr sz="1450" b="1">
                <a:solidFill>
                  <a:srgbClr val="0274DF"/>
                </a:solidFill>
                <a:latin typeface="Segoe UI"/>
              </a:rPr>
              <a:t>▪  </a:t>
            </a:r>
            <a:r>
              <a:rPr sz="1450" b="0">
                <a:solidFill>
                  <a:srgbClr val="12233D"/>
                </a:solidFill>
                <a:latin typeface="Segoe UI"/>
              </a:rPr>
              <a:t>Deliver a clean, consistent, and easy-to-use mobile interface</a:t>
            </a:r>
          </a:p>
        </p:txBody>
      </p:sp>
      <p:sp>
        <p:nvSpPr>
          <p:cNvPr id="12" name="TextBox 11"/>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3" name="TextBox 12"/>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WHO USES EVENTFLOW</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Target Users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581912"/>
            <a:ext cx="3423818" cy="4343400"/>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81912"/>
            <a:ext cx="3423818" cy="82296"/>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19" y="1901952"/>
            <a:ext cx="2783738" cy="411480"/>
          </a:xfrm>
          <a:prstGeom prst="rect">
            <a:avLst/>
          </a:prstGeom>
          <a:noFill/>
        </p:spPr>
        <p:txBody>
          <a:bodyPr wrap="square" lIns="0" tIns="0" rIns="0" bIns="0" anchor="t">
            <a:spAutoFit/>
          </a:bodyPr>
          <a:lstStyle/>
          <a:p>
            <a:pPr algn="l">
              <a:lnSpc>
                <a:spcPct val="100000"/>
              </a:lnSpc>
              <a:spcAft>
                <a:spcPts val="0"/>
              </a:spcAft>
            </a:pPr>
            <a:r>
              <a:rPr sz="1550" b="1">
                <a:solidFill>
                  <a:srgbClr val="0274DF"/>
                </a:solidFill>
                <a:latin typeface="Segoe UI"/>
              </a:rPr>
              <a:t>ADMIN / ORGANIZER</a:t>
            </a:r>
          </a:p>
        </p:txBody>
      </p:sp>
      <p:sp>
        <p:nvSpPr>
          <p:cNvPr id="10" name="TextBox 9"/>
          <p:cNvSpPr txBox="1"/>
          <p:nvPr/>
        </p:nvSpPr>
        <p:spPr>
          <a:xfrm>
            <a:off x="960119" y="2340864"/>
            <a:ext cx="2783738" cy="27432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Demo account: Dave Archie Magsayo</a:t>
            </a:r>
          </a:p>
        </p:txBody>
      </p:sp>
      <p:sp>
        <p:nvSpPr>
          <p:cNvPr id="11" name="TextBox 10"/>
          <p:cNvSpPr txBox="1"/>
          <p:nvPr/>
        </p:nvSpPr>
        <p:spPr>
          <a:xfrm>
            <a:off x="960119" y="2770632"/>
            <a:ext cx="2783738" cy="2880360"/>
          </a:xfrm>
          <a:prstGeom prst="rect">
            <a:avLst/>
          </a:prstGeom>
          <a:noFill/>
        </p:spPr>
        <p:txBody>
          <a:bodyPr wrap="square" lIns="0" tIns="0" rIns="0" bIns="0">
            <a:spAutoFit/>
          </a:bodyPr>
          <a:lstStyle/>
          <a:p>
            <a:pPr>
              <a:lnSpc>
                <a:spcPct val="105000"/>
              </a:lnSpc>
              <a:spcAft>
                <a:spcPts val="900"/>
              </a:spcAft>
            </a:pPr>
            <a:r>
              <a:rPr sz="1300" b="1">
                <a:solidFill>
                  <a:srgbClr val="0274DF"/>
                </a:solidFill>
                <a:latin typeface="Segoe UI"/>
              </a:rPr>
              <a:t>•  </a:t>
            </a:r>
            <a:r>
              <a:rPr sz="1300" b="0">
                <a:solidFill>
                  <a:srgbClr val="12233D"/>
                </a:solidFill>
                <a:latin typeface="Segoe UI"/>
              </a:rPr>
              <a:t>Creates and manages events</a:t>
            </a:r>
          </a:p>
          <a:p>
            <a:pPr>
              <a:lnSpc>
                <a:spcPct val="105000"/>
              </a:lnSpc>
              <a:spcAft>
                <a:spcPts val="900"/>
              </a:spcAft>
            </a:pPr>
            <a:r>
              <a:rPr sz="1300" b="1">
                <a:solidFill>
                  <a:srgbClr val="0274DF"/>
                </a:solidFill>
                <a:latin typeface="Segoe UI"/>
              </a:rPr>
              <a:t>•  </a:t>
            </a:r>
            <a:r>
              <a:rPr sz="1300" b="0">
                <a:solidFill>
                  <a:srgbClr val="12233D"/>
                </a:solidFill>
                <a:latin typeface="Segoe UI"/>
              </a:rPr>
              <a:t>Views all participants</a:t>
            </a:r>
          </a:p>
          <a:p>
            <a:pPr>
              <a:lnSpc>
                <a:spcPct val="105000"/>
              </a:lnSpc>
              <a:spcAft>
                <a:spcPts val="900"/>
              </a:spcAft>
            </a:pPr>
            <a:r>
              <a:rPr sz="1300" b="1">
                <a:solidFill>
                  <a:srgbClr val="0274DF"/>
                </a:solidFill>
                <a:latin typeface="Segoe UI"/>
              </a:rPr>
              <a:t>•  </a:t>
            </a:r>
            <a:r>
              <a:rPr sz="1300" b="0">
                <a:solidFill>
                  <a:srgbClr val="12233D"/>
                </a:solidFill>
                <a:latin typeface="Segoe UI"/>
              </a:rPr>
              <a:t>Checks in attendees</a:t>
            </a:r>
          </a:p>
          <a:p>
            <a:pPr>
              <a:lnSpc>
                <a:spcPct val="105000"/>
              </a:lnSpc>
              <a:spcAft>
                <a:spcPts val="900"/>
              </a:spcAft>
            </a:pPr>
            <a:r>
              <a:rPr sz="1300" b="1">
                <a:solidFill>
                  <a:srgbClr val="0274DF"/>
                </a:solidFill>
                <a:latin typeface="Segoe UI"/>
              </a:rPr>
              <a:t>•  </a:t>
            </a:r>
            <a:r>
              <a:rPr sz="1300" b="0">
                <a:solidFill>
                  <a:srgbClr val="12233D"/>
                </a:solidFill>
                <a:latin typeface="Segoe UI"/>
              </a:rPr>
              <a:t>Generates reports</a:t>
            </a:r>
          </a:p>
          <a:p>
            <a:pPr>
              <a:lnSpc>
                <a:spcPct val="105000"/>
              </a:lnSpc>
              <a:spcAft>
                <a:spcPts val="900"/>
              </a:spcAft>
            </a:pPr>
            <a:r>
              <a:rPr sz="1300" b="1">
                <a:solidFill>
                  <a:srgbClr val="0274DF"/>
                </a:solidFill>
                <a:latin typeface="Segoe UI"/>
              </a:rPr>
              <a:t>•  </a:t>
            </a:r>
            <a:r>
              <a:rPr sz="1300" b="0">
                <a:solidFill>
                  <a:srgbClr val="12233D"/>
                </a:solidFill>
                <a:latin typeface="Segoe UI"/>
              </a:rPr>
              <a:t>Manages user accounts</a:t>
            </a:r>
          </a:p>
        </p:txBody>
      </p:sp>
      <p:sp>
        <p:nvSpPr>
          <p:cNvPr id="12" name="Rounded Rectangle 11"/>
          <p:cNvSpPr/>
          <p:nvPr/>
        </p:nvSpPr>
        <p:spPr>
          <a:xfrm>
            <a:off x="4383938" y="1581912"/>
            <a:ext cx="3423818" cy="4343400"/>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3938" y="1581912"/>
            <a:ext cx="3423818" cy="82296"/>
          </a:xfrm>
          <a:prstGeom prst="rect">
            <a:avLst/>
          </a:prstGeom>
          <a:solidFill>
            <a:srgbClr val="0F6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3978" y="1901952"/>
            <a:ext cx="2783738" cy="411480"/>
          </a:xfrm>
          <a:prstGeom prst="rect">
            <a:avLst/>
          </a:prstGeom>
          <a:noFill/>
        </p:spPr>
        <p:txBody>
          <a:bodyPr wrap="square" lIns="0" tIns="0" rIns="0" bIns="0" anchor="t">
            <a:spAutoFit/>
          </a:bodyPr>
          <a:lstStyle/>
          <a:p>
            <a:pPr algn="l">
              <a:lnSpc>
                <a:spcPct val="100000"/>
              </a:lnSpc>
              <a:spcAft>
                <a:spcPts val="0"/>
              </a:spcAft>
            </a:pPr>
            <a:r>
              <a:rPr sz="1550" b="1">
                <a:solidFill>
                  <a:srgbClr val="0F6FD0"/>
                </a:solidFill>
                <a:latin typeface="Segoe UI"/>
              </a:rPr>
              <a:t>STAFF / ASSISTANT</a:t>
            </a:r>
          </a:p>
        </p:txBody>
      </p:sp>
      <p:sp>
        <p:nvSpPr>
          <p:cNvPr id="15" name="TextBox 14"/>
          <p:cNvSpPr txBox="1"/>
          <p:nvPr/>
        </p:nvSpPr>
        <p:spPr>
          <a:xfrm>
            <a:off x="4703978" y="2340864"/>
            <a:ext cx="2783738" cy="27432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Demo account: John Harvy Baje</a:t>
            </a:r>
          </a:p>
        </p:txBody>
      </p:sp>
      <p:sp>
        <p:nvSpPr>
          <p:cNvPr id="16" name="TextBox 15"/>
          <p:cNvSpPr txBox="1"/>
          <p:nvPr/>
        </p:nvSpPr>
        <p:spPr>
          <a:xfrm>
            <a:off x="4703978" y="2770632"/>
            <a:ext cx="2783738" cy="2880360"/>
          </a:xfrm>
          <a:prstGeom prst="rect">
            <a:avLst/>
          </a:prstGeom>
          <a:noFill/>
        </p:spPr>
        <p:txBody>
          <a:bodyPr wrap="square" lIns="0" tIns="0" rIns="0" bIns="0">
            <a:spAutoFit/>
          </a:bodyPr>
          <a:lstStyle/>
          <a:p>
            <a:pPr>
              <a:lnSpc>
                <a:spcPct val="105000"/>
              </a:lnSpc>
              <a:spcAft>
                <a:spcPts val="900"/>
              </a:spcAft>
            </a:pPr>
            <a:r>
              <a:rPr sz="1300" b="1">
                <a:solidFill>
                  <a:srgbClr val="0274DF"/>
                </a:solidFill>
                <a:latin typeface="Segoe UI"/>
              </a:rPr>
              <a:t>•  </a:t>
            </a:r>
            <a:r>
              <a:rPr sz="1300" b="0">
                <a:solidFill>
                  <a:srgbClr val="12233D"/>
                </a:solidFill>
                <a:latin typeface="Segoe UI"/>
              </a:rPr>
              <a:t>Scans participant QR codes</a:t>
            </a:r>
          </a:p>
          <a:p>
            <a:pPr>
              <a:lnSpc>
                <a:spcPct val="105000"/>
              </a:lnSpc>
              <a:spcAft>
                <a:spcPts val="900"/>
              </a:spcAft>
            </a:pPr>
            <a:r>
              <a:rPr sz="1300" b="1">
                <a:solidFill>
                  <a:srgbClr val="0274DF"/>
                </a:solidFill>
                <a:latin typeface="Segoe UI"/>
              </a:rPr>
              <a:t>•  </a:t>
            </a:r>
            <a:r>
              <a:rPr sz="1300" b="0">
                <a:solidFill>
                  <a:srgbClr val="12233D"/>
                </a:solidFill>
                <a:latin typeface="Segoe UI"/>
              </a:rPr>
              <a:t>Verifies registrations</a:t>
            </a:r>
          </a:p>
          <a:p>
            <a:pPr>
              <a:lnSpc>
                <a:spcPct val="105000"/>
              </a:lnSpc>
              <a:spcAft>
                <a:spcPts val="900"/>
              </a:spcAft>
            </a:pPr>
            <a:r>
              <a:rPr sz="1300" b="1">
                <a:solidFill>
                  <a:srgbClr val="0274DF"/>
                </a:solidFill>
                <a:latin typeface="Segoe UI"/>
              </a:rPr>
              <a:t>•  </a:t>
            </a:r>
            <a:r>
              <a:rPr sz="1300" b="0">
                <a:solidFill>
                  <a:srgbClr val="12233D"/>
                </a:solidFill>
                <a:latin typeface="Segoe UI"/>
              </a:rPr>
              <a:t>Records attendance</a:t>
            </a:r>
          </a:p>
          <a:p>
            <a:pPr>
              <a:lnSpc>
                <a:spcPct val="105000"/>
              </a:lnSpc>
              <a:spcAft>
                <a:spcPts val="900"/>
              </a:spcAft>
            </a:pPr>
            <a:r>
              <a:rPr sz="1300" b="1">
                <a:solidFill>
                  <a:srgbClr val="0274DF"/>
                </a:solidFill>
                <a:latin typeface="Segoe UI"/>
              </a:rPr>
              <a:t>•  </a:t>
            </a:r>
            <a:r>
              <a:rPr sz="1300" b="0">
                <a:solidFill>
                  <a:srgbClr val="12233D"/>
                </a:solidFill>
                <a:latin typeface="Segoe UI"/>
              </a:rPr>
              <a:t>Views the participant list</a:t>
            </a:r>
          </a:p>
          <a:p>
            <a:pPr>
              <a:lnSpc>
                <a:spcPct val="105000"/>
              </a:lnSpc>
              <a:spcAft>
                <a:spcPts val="900"/>
              </a:spcAft>
            </a:pPr>
            <a:r>
              <a:rPr sz="1300" b="1">
                <a:solidFill>
                  <a:srgbClr val="0274DF"/>
                </a:solidFill>
                <a:latin typeface="Segoe UI"/>
              </a:rPr>
              <a:t>•  </a:t>
            </a:r>
            <a:r>
              <a:rPr sz="1300" b="0">
                <a:solidFill>
                  <a:srgbClr val="12233D"/>
                </a:solidFill>
                <a:latin typeface="Segoe UI"/>
              </a:rPr>
              <a:t>Cannot edit or delete events</a:t>
            </a:r>
          </a:p>
        </p:txBody>
      </p:sp>
      <p:sp>
        <p:nvSpPr>
          <p:cNvPr id="17" name="Rounded Rectangle 16"/>
          <p:cNvSpPr/>
          <p:nvPr/>
        </p:nvSpPr>
        <p:spPr>
          <a:xfrm>
            <a:off x="8127796" y="1581912"/>
            <a:ext cx="3423818" cy="4343400"/>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27796" y="1581912"/>
            <a:ext cx="3423818" cy="82296"/>
          </a:xfrm>
          <a:prstGeom prst="rect">
            <a:avLst/>
          </a:prstGeom>
          <a:solidFill>
            <a:srgbClr val="169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47836" y="1901952"/>
            <a:ext cx="2783738" cy="411480"/>
          </a:xfrm>
          <a:prstGeom prst="rect">
            <a:avLst/>
          </a:prstGeom>
          <a:noFill/>
        </p:spPr>
        <p:txBody>
          <a:bodyPr wrap="square" lIns="0" tIns="0" rIns="0" bIns="0" anchor="t">
            <a:spAutoFit/>
          </a:bodyPr>
          <a:lstStyle/>
          <a:p>
            <a:pPr algn="l">
              <a:lnSpc>
                <a:spcPct val="100000"/>
              </a:lnSpc>
              <a:spcAft>
                <a:spcPts val="0"/>
              </a:spcAft>
            </a:pPr>
            <a:r>
              <a:rPr sz="1550" b="1">
                <a:solidFill>
                  <a:srgbClr val="169A62"/>
                </a:solidFill>
                <a:latin typeface="Segoe UI"/>
              </a:rPr>
              <a:t>PARTICIPANT / ATTENDEE</a:t>
            </a:r>
          </a:p>
        </p:txBody>
      </p:sp>
      <p:sp>
        <p:nvSpPr>
          <p:cNvPr id="20" name="TextBox 19"/>
          <p:cNvSpPr txBox="1"/>
          <p:nvPr/>
        </p:nvSpPr>
        <p:spPr>
          <a:xfrm>
            <a:off x="8447836" y="2340864"/>
            <a:ext cx="2783738" cy="27432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Demo account: Marian Muite</a:t>
            </a:r>
          </a:p>
        </p:txBody>
      </p:sp>
      <p:sp>
        <p:nvSpPr>
          <p:cNvPr id="21" name="TextBox 20"/>
          <p:cNvSpPr txBox="1"/>
          <p:nvPr/>
        </p:nvSpPr>
        <p:spPr>
          <a:xfrm>
            <a:off x="8447836" y="2770632"/>
            <a:ext cx="2783738" cy="2880360"/>
          </a:xfrm>
          <a:prstGeom prst="rect">
            <a:avLst/>
          </a:prstGeom>
          <a:noFill/>
        </p:spPr>
        <p:txBody>
          <a:bodyPr wrap="square" lIns="0" tIns="0" rIns="0" bIns="0">
            <a:spAutoFit/>
          </a:bodyPr>
          <a:lstStyle/>
          <a:p>
            <a:pPr>
              <a:lnSpc>
                <a:spcPct val="105000"/>
              </a:lnSpc>
              <a:spcAft>
                <a:spcPts val="900"/>
              </a:spcAft>
            </a:pPr>
            <a:r>
              <a:rPr sz="1300" b="1">
                <a:solidFill>
                  <a:srgbClr val="0274DF"/>
                </a:solidFill>
                <a:latin typeface="Segoe UI"/>
              </a:rPr>
              <a:t>•  </a:t>
            </a:r>
            <a:r>
              <a:rPr sz="1300" b="0">
                <a:solidFill>
                  <a:srgbClr val="12233D"/>
                </a:solidFill>
                <a:latin typeface="Segoe UI"/>
              </a:rPr>
              <a:t>Browses and registers for events</a:t>
            </a:r>
          </a:p>
          <a:p>
            <a:pPr>
              <a:lnSpc>
                <a:spcPct val="105000"/>
              </a:lnSpc>
              <a:spcAft>
                <a:spcPts val="900"/>
              </a:spcAft>
            </a:pPr>
            <a:r>
              <a:rPr sz="1300" b="1">
                <a:solidFill>
                  <a:srgbClr val="0274DF"/>
                </a:solidFill>
                <a:latin typeface="Segoe UI"/>
              </a:rPr>
              <a:t>•  </a:t>
            </a:r>
            <a:r>
              <a:rPr sz="1300" b="0">
                <a:solidFill>
                  <a:srgbClr val="12233D"/>
                </a:solidFill>
                <a:latin typeface="Segoe UI"/>
              </a:rPr>
              <a:t>Shows a personal QR code at check-in</a:t>
            </a:r>
          </a:p>
          <a:p>
            <a:pPr>
              <a:lnSpc>
                <a:spcPct val="105000"/>
              </a:lnSpc>
              <a:spcAft>
                <a:spcPts val="900"/>
              </a:spcAft>
            </a:pPr>
            <a:r>
              <a:rPr sz="1300" b="1">
                <a:solidFill>
                  <a:srgbClr val="0274DF"/>
                </a:solidFill>
                <a:latin typeface="Segoe UI"/>
              </a:rPr>
              <a:t>•  </a:t>
            </a:r>
            <a:r>
              <a:rPr sz="1300" b="0">
                <a:solidFill>
                  <a:srgbClr val="12233D"/>
                </a:solidFill>
                <a:latin typeface="Segoe UI"/>
              </a:rPr>
              <a:t>Tracks own registrations</a:t>
            </a:r>
          </a:p>
          <a:p>
            <a:pPr>
              <a:lnSpc>
                <a:spcPct val="105000"/>
              </a:lnSpc>
              <a:spcAft>
                <a:spcPts val="900"/>
              </a:spcAft>
            </a:pPr>
            <a:r>
              <a:rPr sz="1300" b="1">
                <a:solidFill>
                  <a:srgbClr val="0274DF"/>
                </a:solidFill>
                <a:latin typeface="Segoe UI"/>
              </a:rPr>
              <a:t>•  </a:t>
            </a:r>
            <a:r>
              <a:rPr sz="1300" b="0">
                <a:solidFill>
                  <a:srgbClr val="12233D"/>
                </a:solidFill>
                <a:latin typeface="Segoe UI"/>
              </a:rPr>
              <a:t>Cannot see other participants' data</a:t>
            </a:r>
          </a:p>
          <a:p>
            <a:pPr>
              <a:lnSpc>
                <a:spcPct val="105000"/>
              </a:lnSpc>
              <a:spcAft>
                <a:spcPts val="900"/>
              </a:spcAft>
            </a:pPr>
            <a:r>
              <a:rPr sz="1300" b="1">
                <a:solidFill>
                  <a:srgbClr val="0274DF"/>
                </a:solidFill>
                <a:latin typeface="Segoe UI"/>
              </a:rPr>
              <a:t>•  </a:t>
            </a:r>
            <a:r>
              <a:rPr sz="1300" b="0">
                <a:solidFill>
                  <a:srgbClr val="12233D"/>
                </a:solidFill>
                <a:latin typeface="Segoe UI"/>
              </a:rPr>
              <a:t>Cannot access reports</a:t>
            </a:r>
          </a:p>
        </p:txBody>
      </p:sp>
      <p:sp>
        <p:nvSpPr>
          <p:cNvPr id="22" name="TextBox 21"/>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23" name="TextBox 22"/>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WHAT THE APPLICATION DOES</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Main Features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733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733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96112" y="19751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20756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1</a:t>
            </a:r>
          </a:p>
        </p:txBody>
      </p:sp>
      <p:sp>
        <p:nvSpPr>
          <p:cNvPr id="11" name="TextBox 10"/>
          <p:cNvSpPr txBox="1"/>
          <p:nvPr/>
        </p:nvSpPr>
        <p:spPr>
          <a:xfrm>
            <a:off x="914400" y="26060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Role-Based Access</a:t>
            </a:r>
          </a:p>
        </p:txBody>
      </p:sp>
      <p:sp>
        <p:nvSpPr>
          <p:cNvPr id="12" name="TextBox 11"/>
          <p:cNvSpPr txBox="1"/>
          <p:nvPr/>
        </p:nvSpPr>
        <p:spPr>
          <a:xfrm>
            <a:off x="914400" y="29352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One login, three roles with different permissions</a:t>
            </a:r>
          </a:p>
        </p:txBody>
      </p:sp>
      <p:sp>
        <p:nvSpPr>
          <p:cNvPr id="13" name="Rounded Rectangle 12"/>
          <p:cNvSpPr/>
          <p:nvPr/>
        </p:nvSpPr>
        <p:spPr>
          <a:xfrm>
            <a:off x="3441115" y="16733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41115" y="16733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697147" y="19751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97147" y="20756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2</a:t>
            </a:r>
          </a:p>
        </p:txBody>
      </p:sp>
      <p:sp>
        <p:nvSpPr>
          <p:cNvPr id="17" name="TextBox 16"/>
          <p:cNvSpPr txBox="1"/>
          <p:nvPr/>
        </p:nvSpPr>
        <p:spPr>
          <a:xfrm>
            <a:off x="3715435" y="26060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Event Management</a:t>
            </a:r>
          </a:p>
        </p:txBody>
      </p:sp>
      <p:sp>
        <p:nvSpPr>
          <p:cNvPr id="18" name="TextBox 17"/>
          <p:cNvSpPr txBox="1"/>
          <p:nvPr/>
        </p:nvSpPr>
        <p:spPr>
          <a:xfrm>
            <a:off x="3715435" y="29352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Create, view, edit, and delete events</a:t>
            </a:r>
          </a:p>
        </p:txBody>
      </p:sp>
      <p:sp>
        <p:nvSpPr>
          <p:cNvPr id="19" name="Rounded Rectangle 18"/>
          <p:cNvSpPr/>
          <p:nvPr/>
        </p:nvSpPr>
        <p:spPr>
          <a:xfrm>
            <a:off x="6242151" y="16733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42151" y="16733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98183" y="19751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8183" y="20756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3</a:t>
            </a:r>
          </a:p>
        </p:txBody>
      </p:sp>
      <p:sp>
        <p:nvSpPr>
          <p:cNvPr id="23" name="TextBox 22"/>
          <p:cNvSpPr txBox="1"/>
          <p:nvPr/>
        </p:nvSpPr>
        <p:spPr>
          <a:xfrm>
            <a:off x="6516471" y="26060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Registration</a:t>
            </a:r>
          </a:p>
        </p:txBody>
      </p:sp>
      <p:sp>
        <p:nvSpPr>
          <p:cNvPr id="24" name="TextBox 23"/>
          <p:cNvSpPr txBox="1"/>
          <p:nvPr/>
        </p:nvSpPr>
        <p:spPr>
          <a:xfrm>
            <a:off x="6516471" y="29352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Participants join events; duplicates blocked</a:t>
            </a:r>
          </a:p>
        </p:txBody>
      </p:sp>
      <p:sp>
        <p:nvSpPr>
          <p:cNvPr id="25" name="Rounded Rectangle 24"/>
          <p:cNvSpPr/>
          <p:nvPr/>
        </p:nvSpPr>
        <p:spPr>
          <a:xfrm>
            <a:off x="9043187" y="16733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43187" y="16733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99219" y="19751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99219" y="20756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4</a:t>
            </a:r>
          </a:p>
        </p:txBody>
      </p:sp>
      <p:sp>
        <p:nvSpPr>
          <p:cNvPr id="29" name="TextBox 28"/>
          <p:cNvSpPr txBox="1"/>
          <p:nvPr/>
        </p:nvSpPr>
        <p:spPr>
          <a:xfrm>
            <a:off x="9317507" y="26060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QR Generation</a:t>
            </a:r>
          </a:p>
        </p:txBody>
      </p:sp>
      <p:sp>
        <p:nvSpPr>
          <p:cNvPr id="30" name="TextBox 29"/>
          <p:cNvSpPr txBox="1"/>
          <p:nvPr/>
        </p:nvSpPr>
        <p:spPr>
          <a:xfrm>
            <a:off x="9317507" y="29352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A personal QR code per registration</a:t>
            </a:r>
          </a:p>
        </p:txBody>
      </p:sp>
      <p:sp>
        <p:nvSpPr>
          <p:cNvPr id="31" name="Rounded Rectangle 30"/>
          <p:cNvSpPr/>
          <p:nvPr/>
        </p:nvSpPr>
        <p:spPr>
          <a:xfrm>
            <a:off x="640080" y="37307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37307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6112" y="40325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96112" y="41330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5</a:t>
            </a:r>
          </a:p>
        </p:txBody>
      </p:sp>
      <p:sp>
        <p:nvSpPr>
          <p:cNvPr id="35" name="TextBox 34"/>
          <p:cNvSpPr txBox="1"/>
          <p:nvPr/>
        </p:nvSpPr>
        <p:spPr>
          <a:xfrm>
            <a:off x="914400" y="46634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QR Check-In</a:t>
            </a:r>
          </a:p>
        </p:txBody>
      </p:sp>
      <p:sp>
        <p:nvSpPr>
          <p:cNvPr id="36" name="TextBox 35"/>
          <p:cNvSpPr txBox="1"/>
          <p:nvPr/>
        </p:nvSpPr>
        <p:spPr>
          <a:xfrm>
            <a:off x="914400" y="49926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Scan to verify and record attendance</a:t>
            </a:r>
          </a:p>
        </p:txBody>
      </p:sp>
      <p:sp>
        <p:nvSpPr>
          <p:cNvPr id="37" name="Rounded Rectangle 36"/>
          <p:cNvSpPr/>
          <p:nvPr/>
        </p:nvSpPr>
        <p:spPr>
          <a:xfrm>
            <a:off x="3441115" y="37307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441115" y="37307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3697147" y="40325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97147" y="41330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6</a:t>
            </a:r>
          </a:p>
        </p:txBody>
      </p:sp>
      <p:sp>
        <p:nvSpPr>
          <p:cNvPr id="41" name="TextBox 40"/>
          <p:cNvSpPr txBox="1"/>
          <p:nvPr/>
        </p:nvSpPr>
        <p:spPr>
          <a:xfrm>
            <a:off x="3715435" y="46634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Attendance Records</a:t>
            </a:r>
          </a:p>
        </p:txBody>
      </p:sp>
      <p:sp>
        <p:nvSpPr>
          <p:cNvPr id="42" name="TextBox 41"/>
          <p:cNvSpPr txBox="1"/>
          <p:nvPr/>
        </p:nvSpPr>
        <p:spPr>
          <a:xfrm>
            <a:off x="3715435" y="49926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Present vs registered per event</a:t>
            </a:r>
          </a:p>
        </p:txBody>
      </p:sp>
      <p:sp>
        <p:nvSpPr>
          <p:cNvPr id="43" name="Rounded Rectangle 42"/>
          <p:cNvSpPr/>
          <p:nvPr/>
        </p:nvSpPr>
        <p:spPr>
          <a:xfrm>
            <a:off x="6242151" y="37307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42151" y="37307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498183" y="40325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98183" y="41330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7</a:t>
            </a:r>
          </a:p>
        </p:txBody>
      </p:sp>
      <p:sp>
        <p:nvSpPr>
          <p:cNvPr id="47" name="TextBox 46"/>
          <p:cNvSpPr txBox="1"/>
          <p:nvPr/>
        </p:nvSpPr>
        <p:spPr>
          <a:xfrm>
            <a:off x="6516471" y="46634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Reports</a:t>
            </a:r>
          </a:p>
        </p:txBody>
      </p:sp>
      <p:sp>
        <p:nvSpPr>
          <p:cNvPr id="48" name="TextBox 47"/>
          <p:cNvSpPr txBox="1"/>
          <p:nvPr/>
        </p:nvSpPr>
        <p:spPr>
          <a:xfrm>
            <a:off x="6516471" y="49926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Per-event registration and attendance summary</a:t>
            </a:r>
          </a:p>
        </p:txBody>
      </p:sp>
      <p:sp>
        <p:nvSpPr>
          <p:cNvPr id="49" name="Rounded Rectangle 48"/>
          <p:cNvSpPr/>
          <p:nvPr/>
        </p:nvSpPr>
        <p:spPr>
          <a:xfrm>
            <a:off x="9043187" y="3730752"/>
            <a:ext cx="2508427" cy="1783080"/>
          </a:xfrm>
          <a:prstGeom prst="roundRect">
            <a:avLst>
              <a:gd name="adj" fmla="val 8000"/>
            </a:avLst>
          </a:prstGeom>
          <a:solidFill>
            <a:srgbClr val="FFFFFF"/>
          </a:solidFill>
          <a:ln w="12700">
            <a:solidFill>
              <a:srgbClr val="E2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43187" y="3730752"/>
            <a:ext cx="2508427" cy="6400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9299219" y="4032504"/>
            <a:ext cx="502920" cy="502920"/>
          </a:xfrm>
          <a:prstGeom prst="roundRect">
            <a:avLst>
              <a:gd name="adj" fmla="val 2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99219" y="4133088"/>
            <a:ext cx="502920" cy="320040"/>
          </a:xfrm>
          <a:prstGeom prst="rect">
            <a:avLst/>
          </a:prstGeom>
          <a:noFill/>
        </p:spPr>
        <p:txBody>
          <a:bodyPr wrap="square" lIns="0" tIns="0" rIns="0" bIns="0" anchor="t">
            <a:spAutoFit/>
          </a:bodyPr>
          <a:lstStyle/>
          <a:p>
            <a:pPr algn="ctr">
              <a:lnSpc>
                <a:spcPct val="100000"/>
              </a:lnSpc>
              <a:spcAft>
                <a:spcPts val="0"/>
              </a:spcAft>
            </a:pPr>
            <a:r>
              <a:rPr sz="1500" b="1">
                <a:solidFill>
                  <a:srgbClr val="0274DF"/>
                </a:solidFill>
                <a:latin typeface="Segoe UI"/>
              </a:rPr>
              <a:t>8</a:t>
            </a:r>
          </a:p>
        </p:txBody>
      </p:sp>
      <p:sp>
        <p:nvSpPr>
          <p:cNvPr id="53" name="TextBox 52"/>
          <p:cNvSpPr txBox="1"/>
          <p:nvPr/>
        </p:nvSpPr>
        <p:spPr>
          <a:xfrm>
            <a:off x="9317507" y="4663440"/>
            <a:ext cx="1959787" cy="36576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User Management</a:t>
            </a:r>
          </a:p>
        </p:txBody>
      </p:sp>
      <p:sp>
        <p:nvSpPr>
          <p:cNvPr id="54" name="TextBox 53"/>
          <p:cNvSpPr txBox="1"/>
          <p:nvPr/>
        </p:nvSpPr>
        <p:spPr>
          <a:xfrm>
            <a:off x="9317507" y="4992624"/>
            <a:ext cx="1959787" cy="457200"/>
          </a:xfrm>
          <a:prstGeom prst="rect">
            <a:avLst/>
          </a:prstGeom>
          <a:noFill/>
        </p:spPr>
        <p:txBody>
          <a:bodyPr wrap="square" lIns="0" tIns="0" rIns="0" bIns="0" anchor="t">
            <a:spAutoFit/>
          </a:bodyPr>
          <a:lstStyle/>
          <a:p>
            <a:pPr algn="l">
              <a:lnSpc>
                <a:spcPct val="100000"/>
              </a:lnSpc>
              <a:spcAft>
                <a:spcPts val="0"/>
              </a:spcAft>
            </a:pPr>
            <a:r>
              <a:rPr sz="1050" b="0">
                <a:solidFill>
                  <a:srgbClr val="5A6B82"/>
                </a:solidFill>
                <a:latin typeface="Segoe UI"/>
              </a:rPr>
              <a:t>View accounts and switch demo roles</a:t>
            </a:r>
          </a:p>
        </p:txBody>
      </p:sp>
      <p:sp>
        <p:nvSpPr>
          <p:cNvPr id="55" name="TextBox 54"/>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56" name="TextBox 55"/>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WHO CAN DO WHAT</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Roles &amp; Permissions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640080" y="1609344"/>
          <a:ext cx="10911532" cy="3840480"/>
        </p:xfrm>
        <a:graphic>
          <a:graphicData uri="http://schemas.openxmlformats.org/drawingml/2006/table">
            <a:tbl>
              <a:tblPr firstRow="1">
                <a:tableStyleId>{5C22544A-7EE6-4342-B048-85BDC9FD1C3A}</a:tableStyleId>
              </a:tblPr>
              <a:tblGrid>
                <a:gridCol w="5621093">
                  <a:extLst>
                    <a:ext uri="{9D8B030D-6E8A-4147-A177-3AD203B41FA5}">
                      <a16:colId xmlns:a16="http://schemas.microsoft.com/office/drawing/2014/main" val="20000"/>
                    </a:ext>
                  </a:extLst>
                </a:gridCol>
                <a:gridCol w="1653262">
                  <a:extLst>
                    <a:ext uri="{9D8B030D-6E8A-4147-A177-3AD203B41FA5}">
                      <a16:colId xmlns:a16="http://schemas.microsoft.com/office/drawing/2014/main" val="20001"/>
                    </a:ext>
                  </a:extLst>
                </a:gridCol>
                <a:gridCol w="1653262">
                  <a:extLst>
                    <a:ext uri="{9D8B030D-6E8A-4147-A177-3AD203B41FA5}">
                      <a16:colId xmlns:a16="http://schemas.microsoft.com/office/drawing/2014/main" val="20002"/>
                    </a:ext>
                  </a:extLst>
                </a:gridCol>
                <a:gridCol w="1983915">
                  <a:extLst>
                    <a:ext uri="{9D8B030D-6E8A-4147-A177-3AD203B41FA5}">
                      <a16:colId xmlns:a16="http://schemas.microsoft.com/office/drawing/2014/main" val="20003"/>
                    </a:ext>
                  </a:extLst>
                </a:gridCol>
              </a:tblGrid>
              <a:tr h="384048">
                <a:tc>
                  <a:txBody>
                    <a:bodyPr/>
                    <a:lstStyle/>
                    <a:p>
                      <a:pPr algn="l"/>
                      <a:r>
                        <a:rPr sz="1350" b="1">
                          <a:solidFill>
                            <a:srgbClr val="FFFFFF"/>
                          </a:solidFill>
                          <a:latin typeface="Segoe UI"/>
                        </a:rPr>
                        <a:t>Feature</a:t>
                      </a:r>
                    </a:p>
                  </a:txBody>
                  <a:tcPr marL="109728" marR="73152" anchor="ctr">
                    <a:solidFill>
                      <a:srgbClr val="0B1F3A"/>
                    </a:solidFill>
                  </a:tcPr>
                </a:tc>
                <a:tc>
                  <a:txBody>
                    <a:bodyPr/>
                    <a:lstStyle/>
                    <a:p>
                      <a:pPr algn="l"/>
                      <a:r>
                        <a:rPr sz="1350" b="1">
                          <a:solidFill>
                            <a:srgbClr val="FFFFFF"/>
                          </a:solidFill>
                          <a:latin typeface="Segoe UI"/>
                        </a:rPr>
                        <a:t>Admin</a:t>
                      </a:r>
                    </a:p>
                  </a:txBody>
                  <a:tcPr marL="109728" marR="73152" anchor="ctr">
                    <a:solidFill>
                      <a:srgbClr val="0B1F3A"/>
                    </a:solidFill>
                  </a:tcPr>
                </a:tc>
                <a:tc>
                  <a:txBody>
                    <a:bodyPr/>
                    <a:lstStyle/>
                    <a:p>
                      <a:pPr algn="l"/>
                      <a:r>
                        <a:rPr sz="1350" b="1">
                          <a:solidFill>
                            <a:srgbClr val="FFFFFF"/>
                          </a:solidFill>
                          <a:latin typeface="Segoe UI"/>
                        </a:rPr>
                        <a:t>Staff</a:t>
                      </a:r>
                    </a:p>
                  </a:txBody>
                  <a:tcPr marL="109728" marR="73152" anchor="ctr">
                    <a:solidFill>
                      <a:srgbClr val="0B1F3A"/>
                    </a:solidFill>
                  </a:tcPr>
                </a:tc>
                <a:tc>
                  <a:txBody>
                    <a:bodyPr/>
                    <a:lstStyle/>
                    <a:p>
                      <a:pPr algn="l"/>
                      <a:r>
                        <a:rPr sz="1350" b="1">
                          <a:solidFill>
                            <a:srgbClr val="FFFFFF"/>
                          </a:solidFill>
                          <a:latin typeface="Segoe UI"/>
                        </a:rPr>
                        <a:t>Participant</a:t>
                      </a:r>
                    </a:p>
                  </a:txBody>
                  <a:tcPr marL="109728" marR="73152" anchor="ctr">
                    <a:solidFill>
                      <a:srgbClr val="0B1F3A"/>
                    </a:solidFill>
                  </a:tcPr>
                </a:tc>
                <a:extLst>
                  <a:ext uri="{0D108BD9-81ED-4DB2-BD59-A6C34878D82A}">
                    <a16:rowId xmlns:a16="http://schemas.microsoft.com/office/drawing/2014/main" val="10000"/>
                  </a:ext>
                </a:extLst>
              </a:tr>
              <a:tr h="384048">
                <a:tc>
                  <a:txBody>
                    <a:bodyPr/>
                    <a:lstStyle/>
                    <a:p>
                      <a:pPr algn="l"/>
                      <a:r>
                        <a:rPr sz="1350" b="0">
                          <a:solidFill>
                            <a:srgbClr val="12233D"/>
                          </a:solidFill>
                          <a:latin typeface="Segoe UI"/>
                        </a:rPr>
                        <a:t>Create / edit / delete events</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extLst>
                  <a:ext uri="{0D108BD9-81ED-4DB2-BD59-A6C34878D82A}">
                    <a16:rowId xmlns:a16="http://schemas.microsoft.com/office/drawing/2014/main" val="10001"/>
                  </a:ext>
                </a:extLst>
              </a:tr>
              <a:tr h="384048">
                <a:tc>
                  <a:txBody>
                    <a:bodyPr/>
                    <a:lstStyle/>
                    <a:p>
                      <a:pPr algn="l"/>
                      <a:r>
                        <a:rPr sz="1350" b="0">
                          <a:solidFill>
                            <a:srgbClr val="12233D"/>
                          </a:solidFill>
                          <a:latin typeface="Segoe UI"/>
                        </a:rPr>
                        <a:t>View event details</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extLst>
                  <a:ext uri="{0D108BD9-81ED-4DB2-BD59-A6C34878D82A}">
                    <a16:rowId xmlns:a16="http://schemas.microsoft.com/office/drawing/2014/main" val="10002"/>
                  </a:ext>
                </a:extLst>
              </a:tr>
              <a:tr h="384048">
                <a:tc>
                  <a:txBody>
                    <a:bodyPr/>
                    <a:lstStyle/>
                    <a:p>
                      <a:pPr algn="l"/>
                      <a:r>
                        <a:rPr sz="1350" b="0">
                          <a:solidFill>
                            <a:srgbClr val="12233D"/>
                          </a:solidFill>
                          <a:latin typeface="Segoe UI"/>
                        </a:rPr>
                        <a:t>Register for an event</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extLst>
                  <a:ext uri="{0D108BD9-81ED-4DB2-BD59-A6C34878D82A}">
                    <a16:rowId xmlns:a16="http://schemas.microsoft.com/office/drawing/2014/main" val="10003"/>
                  </a:ext>
                </a:extLst>
              </a:tr>
              <a:tr h="384048">
                <a:tc>
                  <a:txBody>
                    <a:bodyPr/>
                    <a:lstStyle/>
                    <a:p>
                      <a:pPr algn="l"/>
                      <a:r>
                        <a:rPr sz="1350" b="0">
                          <a:solidFill>
                            <a:srgbClr val="12233D"/>
                          </a:solidFill>
                          <a:latin typeface="Segoe UI"/>
                        </a:rPr>
                        <a:t>Generate own QR code</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CE2A1E"/>
                          </a:solidFill>
                          <a:latin typeface="Segoe UI"/>
                        </a:rPr>
                        <a:t>✗</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extLst>
                  <a:ext uri="{0D108BD9-81ED-4DB2-BD59-A6C34878D82A}">
                    <a16:rowId xmlns:a16="http://schemas.microsoft.com/office/drawing/2014/main" val="10004"/>
                  </a:ext>
                </a:extLst>
              </a:tr>
              <a:tr h="384048">
                <a:tc>
                  <a:txBody>
                    <a:bodyPr/>
                    <a:lstStyle/>
                    <a:p>
                      <a:pPr algn="l"/>
                      <a:r>
                        <a:rPr sz="1350" b="0">
                          <a:solidFill>
                            <a:srgbClr val="12233D"/>
                          </a:solidFill>
                          <a:latin typeface="Segoe UI"/>
                        </a:rPr>
                        <a:t>Scan QR / verify registration</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extLst>
                  <a:ext uri="{0D108BD9-81ED-4DB2-BD59-A6C34878D82A}">
                    <a16:rowId xmlns:a16="http://schemas.microsoft.com/office/drawing/2014/main" val="10005"/>
                  </a:ext>
                </a:extLst>
              </a:tr>
              <a:tr h="384048">
                <a:tc>
                  <a:txBody>
                    <a:bodyPr/>
                    <a:lstStyle/>
                    <a:p>
                      <a:pPr algn="l"/>
                      <a:r>
                        <a:rPr sz="1350" b="0">
                          <a:solidFill>
                            <a:srgbClr val="12233D"/>
                          </a:solidFill>
                          <a:latin typeface="Segoe UI"/>
                        </a:rPr>
                        <a:t>Record / view attendance</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CE2A1E"/>
                          </a:solidFill>
                          <a:latin typeface="Segoe UI"/>
                        </a:rPr>
                        <a:t>✗</a:t>
                      </a:r>
                    </a:p>
                  </a:txBody>
                  <a:tcPr marL="109728" marR="73152" anchor="ctr">
                    <a:solidFill>
                      <a:srgbClr val="F6F9FD"/>
                    </a:solidFill>
                  </a:tcPr>
                </a:tc>
                <a:extLst>
                  <a:ext uri="{0D108BD9-81ED-4DB2-BD59-A6C34878D82A}">
                    <a16:rowId xmlns:a16="http://schemas.microsoft.com/office/drawing/2014/main" val="10006"/>
                  </a:ext>
                </a:extLst>
              </a:tr>
              <a:tr h="384048">
                <a:tc>
                  <a:txBody>
                    <a:bodyPr/>
                    <a:lstStyle/>
                    <a:p>
                      <a:pPr algn="l"/>
                      <a:r>
                        <a:rPr sz="1350" b="0">
                          <a:solidFill>
                            <a:srgbClr val="12233D"/>
                          </a:solidFill>
                          <a:latin typeface="Segoe UI"/>
                        </a:rPr>
                        <a:t>View participant list</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extLst>
                  <a:ext uri="{0D108BD9-81ED-4DB2-BD59-A6C34878D82A}">
                    <a16:rowId xmlns:a16="http://schemas.microsoft.com/office/drawing/2014/main" val="10007"/>
                  </a:ext>
                </a:extLst>
              </a:tr>
              <a:tr h="384048">
                <a:tc>
                  <a:txBody>
                    <a:bodyPr/>
                    <a:lstStyle/>
                    <a:p>
                      <a:pPr algn="l"/>
                      <a:r>
                        <a:rPr sz="1350" b="0">
                          <a:solidFill>
                            <a:srgbClr val="12233D"/>
                          </a:solidFill>
                          <a:latin typeface="Segoe UI"/>
                        </a:rPr>
                        <a:t>Generate reports</a:t>
                      </a:r>
                    </a:p>
                  </a:txBody>
                  <a:tcPr marL="109728" marR="73152" anchor="ctr">
                    <a:solidFill>
                      <a:srgbClr val="F6F9FD"/>
                    </a:solidFill>
                  </a:tcPr>
                </a:tc>
                <a:tc>
                  <a:txBody>
                    <a:bodyPr/>
                    <a:lstStyle/>
                    <a:p>
                      <a:pPr algn="l"/>
                      <a:r>
                        <a:rPr sz="1350" b="1">
                          <a:solidFill>
                            <a:srgbClr val="0B7A4B"/>
                          </a:solidFill>
                          <a:latin typeface="Segoe UI"/>
                        </a:rPr>
                        <a:t>✓</a:t>
                      </a:r>
                    </a:p>
                  </a:txBody>
                  <a:tcPr marL="109728" marR="73152" anchor="ctr">
                    <a:solidFill>
                      <a:srgbClr val="F6F9FD"/>
                    </a:solidFill>
                  </a:tcPr>
                </a:tc>
                <a:tc>
                  <a:txBody>
                    <a:bodyPr/>
                    <a:lstStyle/>
                    <a:p>
                      <a:pPr algn="l"/>
                      <a:r>
                        <a:rPr sz="1350" b="1">
                          <a:solidFill>
                            <a:srgbClr val="CE2A1E"/>
                          </a:solidFill>
                          <a:latin typeface="Segoe UI"/>
                        </a:rPr>
                        <a:t>✗</a:t>
                      </a:r>
                    </a:p>
                  </a:txBody>
                  <a:tcPr marL="109728" marR="73152" anchor="ctr">
                    <a:solidFill>
                      <a:srgbClr val="F6F9FD"/>
                    </a:solidFill>
                  </a:tcPr>
                </a:tc>
                <a:tc>
                  <a:txBody>
                    <a:bodyPr/>
                    <a:lstStyle/>
                    <a:p>
                      <a:pPr algn="l"/>
                      <a:r>
                        <a:rPr sz="1350" b="1">
                          <a:solidFill>
                            <a:srgbClr val="CE2A1E"/>
                          </a:solidFill>
                          <a:latin typeface="Segoe UI"/>
                        </a:rPr>
                        <a:t>✗</a:t>
                      </a:r>
                    </a:p>
                  </a:txBody>
                  <a:tcPr marL="109728" marR="73152" anchor="ctr">
                    <a:solidFill>
                      <a:srgbClr val="F6F9FD"/>
                    </a:solidFill>
                  </a:tcPr>
                </a:tc>
                <a:extLst>
                  <a:ext uri="{0D108BD9-81ED-4DB2-BD59-A6C34878D82A}">
                    <a16:rowId xmlns:a16="http://schemas.microsoft.com/office/drawing/2014/main" val="10008"/>
                  </a:ext>
                </a:extLst>
              </a:tr>
              <a:tr h="384048">
                <a:tc>
                  <a:txBody>
                    <a:bodyPr/>
                    <a:lstStyle/>
                    <a:p>
                      <a:pPr algn="l"/>
                      <a:r>
                        <a:rPr sz="1350" b="0">
                          <a:solidFill>
                            <a:srgbClr val="12233D"/>
                          </a:solidFill>
                          <a:latin typeface="Segoe UI"/>
                        </a:rPr>
                        <a:t>Manage user accounts</a:t>
                      </a:r>
                    </a:p>
                  </a:txBody>
                  <a:tcPr marL="109728" marR="73152" anchor="ctr">
                    <a:solidFill>
                      <a:srgbClr val="FFFFFF"/>
                    </a:solidFill>
                  </a:tcPr>
                </a:tc>
                <a:tc>
                  <a:txBody>
                    <a:bodyPr/>
                    <a:lstStyle/>
                    <a:p>
                      <a:pPr algn="l"/>
                      <a:r>
                        <a:rPr sz="1350" b="1">
                          <a:solidFill>
                            <a:srgbClr val="0B7A4B"/>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tc>
                  <a:txBody>
                    <a:bodyPr/>
                    <a:lstStyle/>
                    <a:p>
                      <a:pPr algn="l"/>
                      <a:r>
                        <a:rPr sz="1350" b="1">
                          <a:solidFill>
                            <a:srgbClr val="CE2A1E"/>
                          </a:solidFill>
                          <a:latin typeface="Segoe UI"/>
                        </a:rPr>
                        <a:t>✗</a:t>
                      </a:r>
                    </a:p>
                  </a:txBody>
                  <a:tcPr marL="109728" marR="73152" anchor="ctr">
                    <a:solidFill>
                      <a:srgbClr val="FFFFFF"/>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9" name="TextBox 8"/>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320040" cy="685800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286000"/>
            <a:ext cx="2926080" cy="1097280"/>
          </a:xfrm>
          <a:prstGeom prst="rect">
            <a:avLst/>
          </a:prstGeom>
          <a:noFill/>
        </p:spPr>
        <p:txBody>
          <a:bodyPr wrap="square" lIns="0" tIns="0" rIns="0" bIns="0" anchor="t">
            <a:spAutoFit/>
          </a:bodyPr>
          <a:lstStyle/>
          <a:p>
            <a:pPr algn="l">
              <a:lnSpc>
                <a:spcPct val="100000"/>
              </a:lnSpc>
              <a:spcAft>
                <a:spcPts val="0"/>
              </a:spcAft>
            </a:pPr>
            <a:r>
              <a:rPr sz="9600" b="1">
                <a:solidFill>
                  <a:srgbClr val="1C3B66"/>
                </a:solidFill>
                <a:latin typeface="Segoe UI"/>
              </a:rPr>
              <a:t>02</a:t>
            </a:r>
          </a:p>
        </p:txBody>
      </p:sp>
      <p:sp>
        <p:nvSpPr>
          <p:cNvPr id="6" name="TextBox 5"/>
          <p:cNvSpPr txBox="1"/>
          <p:nvPr/>
        </p:nvSpPr>
        <p:spPr>
          <a:xfrm>
            <a:off x="1463040" y="3246120"/>
            <a:ext cx="9601200" cy="731520"/>
          </a:xfrm>
          <a:prstGeom prst="rect">
            <a:avLst/>
          </a:prstGeom>
          <a:noFill/>
        </p:spPr>
        <p:txBody>
          <a:bodyPr wrap="square" lIns="0" tIns="0" rIns="0" bIns="0" anchor="t">
            <a:spAutoFit/>
          </a:bodyPr>
          <a:lstStyle/>
          <a:p>
            <a:pPr algn="l">
              <a:lnSpc>
                <a:spcPct val="100000"/>
              </a:lnSpc>
              <a:spcAft>
                <a:spcPts val="0"/>
              </a:spcAft>
            </a:pPr>
            <a:r>
              <a:rPr sz="4000" b="1">
                <a:solidFill>
                  <a:srgbClr val="FFFFFF"/>
                </a:solidFill>
                <a:latin typeface="Segoe UI"/>
              </a:rPr>
              <a:t>UI / Screen Overview</a:t>
            </a:r>
          </a:p>
        </p:txBody>
      </p:sp>
      <p:sp>
        <p:nvSpPr>
          <p:cNvPr id="7" name="TextBox 6"/>
          <p:cNvSpPr txBox="1"/>
          <p:nvPr/>
        </p:nvSpPr>
        <p:spPr>
          <a:xfrm>
            <a:off x="1481328" y="4069080"/>
            <a:ext cx="9144000" cy="548640"/>
          </a:xfrm>
          <a:prstGeom prst="rect">
            <a:avLst/>
          </a:prstGeom>
          <a:noFill/>
        </p:spPr>
        <p:txBody>
          <a:bodyPr wrap="square" lIns="0" tIns="0" rIns="0" bIns="0" anchor="t">
            <a:spAutoFit/>
          </a:bodyPr>
          <a:lstStyle/>
          <a:p>
            <a:pPr algn="l">
              <a:lnSpc>
                <a:spcPct val="100000"/>
              </a:lnSpc>
              <a:spcAft>
                <a:spcPts val="0"/>
              </a:spcAft>
            </a:pPr>
            <a:r>
              <a:rPr sz="1600" b="0">
                <a:solidFill>
                  <a:srgbClr val="8CC2F0"/>
                </a:solidFill>
                <a:latin typeface="Segoe UI"/>
              </a:rPr>
              <a:t>Every screen, with a brief description</a:t>
            </a:r>
          </a:p>
        </p:txBody>
      </p:sp>
      <p:sp>
        <p:nvSpPr>
          <p:cNvPr id="8" name="TextBox 7"/>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4A6385"/>
                </a:solidFill>
                <a:latin typeface="Segoe UI"/>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01</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Login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login.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One shared login page for all three roles</a:t>
            </a:r>
          </a:p>
          <a:p>
            <a:pPr>
              <a:lnSpc>
                <a:spcPct val="105000"/>
              </a:lnSpc>
              <a:spcAft>
                <a:spcPts val="1100"/>
              </a:spcAft>
            </a:pPr>
            <a:r>
              <a:rPr sz="1550" b="1">
                <a:solidFill>
                  <a:srgbClr val="0274DF"/>
                </a:solidFill>
                <a:latin typeface="Segoe UI"/>
              </a:rPr>
              <a:t>▪  </a:t>
            </a:r>
            <a:r>
              <a:rPr sz="1500" b="0">
                <a:solidFill>
                  <a:srgbClr val="12233D"/>
                </a:solidFill>
                <a:latin typeface="Segoe UI"/>
              </a:rPr>
              <a:t>Email / Username field</a:t>
            </a:r>
          </a:p>
          <a:p>
            <a:pPr>
              <a:lnSpc>
                <a:spcPct val="105000"/>
              </a:lnSpc>
              <a:spcAft>
                <a:spcPts val="1100"/>
              </a:spcAft>
            </a:pPr>
            <a:r>
              <a:rPr sz="1550" b="1">
                <a:solidFill>
                  <a:srgbClr val="0274DF"/>
                </a:solidFill>
                <a:latin typeface="Segoe UI"/>
              </a:rPr>
              <a:t>▪  </a:t>
            </a:r>
            <a:r>
              <a:rPr sz="1500" b="0">
                <a:solidFill>
                  <a:srgbClr val="12233D"/>
                </a:solidFill>
                <a:latin typeface="Segoe UI"/>
              </a:rPr>
              <a:t>Password field with show / hide toggle</a:t>
            </a:r>
          </a:p>
          <a:p>
            <a:pPr>
              <a:lnSpc>
                <a:spcPct val="105000"/>
              </a:lnSpc>
              <a:spcAft>
                <a:spcPts val="1100"/>
              </a:spcAft>
            </a:pPr>
            <a:r>
              <a:rPr sz="1550" b="1">
                <a:solidFill>
                  <a:srgbClr val="0274DF"/>
                </a:solidFill>
                <a:latin typeface="Segoe UI"/>
              </a:rPr>
              <a:t>▪  </a:t>
            </a:r>
            <a:r>
              <a:rPr sz="1500" b="0">
                <a:solidFill>
                  <a:srgbClr val="12233D"/>
                </a:solidFill>
                <a:latin typeface="Segoe UI"/>
              </a:rPr>
              <a:t>Demo role selector — Admin, Staff, Participant</a:t>
            </a:r>
          </a:p>
          <a:p>
            <a:pPr>
              <a:lnSpc>
                <a:spcPct val="105000"/>
              </a:lnSpc>
              <a:spcAft>
                <a:spcPts val="1100"/>
              </a:spcAft>
            </a:pPr>
            <a:r>
              <a:rPr sz="1550" b="1">
                <a:solidFill>
                  <a:srgbClr val="0274DF"/>
                </a:solidFill>
                <a:latin typeface="Segoe UI"/>
              </a:rPr>
              <a:t>▪  </a:t>
            </a:r>
            <a:r>
              <a:rPr sz="1500" b="0">
                <a:solidFill>
                  <a:srgbClr val="12233D"/>
                </a:solidFill>
                <a:latin typeface="Segoe UI"/>
              </a:rPr>
              <a:t>Required-field validation with inline errors</a:t>
            </a:r>
          </a:p>
          <a:p>
            <a:pPr>
              <a:lnSpc>
                <a:spcPct val="105000"/>
              </a:lnSpc>
              <a:spcAft>
                <a:spcPts val="1100"/>
              </a:spcAft>
            </a:pPr>
            <a:r>
              <a:rPr sz="1550" b="1">
                <a:solidFill>
                  <a:srgbClr val="0274DF"/>
                </a:solidFill>
                <a:latin typeface="Segoe UI"/>
              </a:rPr>
              <a:t>▪  </a:t>
            </a:r>
            <a:r>
              <a:rPr sz="1500" b="0">
                <a:solidFill>
                  <a:srgbClr val="12233D"/>
                </a:solidFill>
                <a:latin typeface="Segoe UI"/>
              </a:rPr>
              <a:t>Forgot password link (no backend — informational)</a:t>
            </a:r>
          </a:p>
          <a:p>
            <a:pPr>
              <a:lnSpc>
                <a:spcPct val="105000"/>
              </a:lnSpc>
              <a:spcAft>
                <a:spcPts val="1100"/>
              </a:spcAft>
            </a:pPr>
            <a:r>
              <a:rPr sz="1550" b="1">
                <a:solidFill>
                  <a:srgbClr val="0274DF"/>
                </a:solidFill>
                <a:latin typeface="Segoe UI"/>
              </a:rPr>
              <a:t>▪  </a:t>
            </a:r>
            <a:r>
              <a:rPr sz="1500" b="0">
                <a:solidFill>
                  <a:srgbClr val="12233D"/>
                </a:solidFill>
                <a:latin typeface="Segoe UI"/>
              </a:rPr>
              <a:t>Link to the Sign Up screen</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02</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Sign Up</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2-sign-up.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Participant self-registration form</a:t>
            </a:r>
          </a:p>
          <a:p>
            <a:pPr>
              <a:lnSpc>
                <a:spcPct val="105000"/>
              </a:lnSpc>
              <a:spcAft>
                <a:spcPts val="1100"/>
              </a:spcAft>
            </a:pPr>
            <a:r>
              <a:rPr sz="1550" b="1">
                <a:solidFill>
                  <a:srgbClr val="0274DF"/>
                </a:solidFill>
                <a:latin typeface="Segoe UI"/>
              </a:rPr>
              <a:t>▪  </a:t>
            </a:r>
            <a:r>
              <a:rPr sz="1500" b="0">
                <a:solidFill>
                  <a:srgbClr val="12233D"/>
                </a:solidFill>
                <a:latin typeface="Segoe UI"/>
              </a:rPr>
              <a:t>Full Name, Email, Password fields</a:t>
            </a:r>
          </a:p>
          <a:p>
            <a:pPr>
              <a:lnSpc>
                <a:spcPct val="105000"/>
              </a:lnSpc>
              <a:spcAft>
                <a:spcPts val="1100"/>
              </a:spcAft>
            </a:pPr>
            <a:r>
              <a:rPr sz="1550" b="1">
                <a:solidFill>
                  <a:srgbClr val="0274DF"/>
                </a:solidFill>
                <a:latin typeface="Segoe UI"/>
              </a:rPr>
              <a:t>▪  </a:t>
            </a:r>
            <a:r>
              <a:rPr sz="1500" b="0">
                <a:solidFill>
                  <a:srgbClr val="12233D"/>
                </a:solidFill>
                <a:latin typeface="Segoe UI"/>
              </a:rPr>
              <a:t>Confirm Password field</a:t>
            </a:r>
          </a:p>
          <a:p>
            <a:pPr>
              <a:lnSpc>
                <a:spcPct val="105000"/>
              </a:lnSpc>
              <a:spcAft>
                <a:spcPts val="1100"/>
              </a:spcAft>
            </a:pPr>
            <a:r>
              <a:rPr sz="1550" b="1">
                <a:solidFill>
                  <a:srgbClr val="0274DF"/>
                </a:solidFill>
                <a:latin typeface="Segoe UI"/>
              </a:rPr>
              <a:t>▪  </a:t>
            </a:r>
            <a:r>
              <a:rPr sz="1500" b="0">
                <a:solidFill>
                  <a:srgbClr val="12233D"/>
                </a:solidFill>
                <a:latin typeface="Segoe UI"/>
              </a:rPr>
              <a:t>Live password-match validation</a:t>
            </a:r>
          </a:p>
          <a:p>
            <a:pPr>
              <a:lnSpc>
                <a:spcPct val="105000"/>
              </a:lnSpc>
              <a:spcAft>
                <a:spcPts val="1100"/>
              </a:spcAft>
            </a:pPr>
            <a:r>
              <a:rPr sz="1550" b="1">
                <a:solidFill>
                  <a:srgbClr val="0274DF"/>
                </a:solidFill>
                <a:latin typeface="Segoe UI"/>
              </a:rPr>
              <a:t>▪  </a:t>
            </a:r>
            <a:r>
              <a:rPr sz="1500" b="0">
                <a:solidFill>
                  <a:srgbClr val="12233D"/>
                </a:solidFill>
                <a:latin typeface="Segoe UI"/>
              </a:rPr>
              <a:t>Error message shown under the Confirm field</a:t>
            </a:r>
          </a:p>
          <a:p>
            <a:pPr>
              <a:lnSpc>
                <a:spcPct val="105000"/>
              </a:lnSpc>
              <a:spcAft>
                <a:spcPts val="1100"/>
              </a:spcAft>
            </a:pPr>
            <a:r>
              <a:rPr sz="1550" b="1">
                <a:solidFill>
                  <a:srgbClr val="0274DF"/>
                </a:solidFill>
                <a:latin typeface="Segoe UI"/>
              </a:rPr>
              <a:t>▪  </a:t>
            </a:r>
            <a:r>
              <a:rPr sz="1500" b="0">
                <a:solidFill>
                  <a:srgbClr val="12233D"/>
                </a:solidFill>
                <a:latin typeface="Segoe UI"/>
              </a:rPr>
              <a:t>Success confirmation returns to Login</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03</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Dashboard — Admin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3-dashboard-admin.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Gradient welcome header with profile avatar</a:t>
            </a:r>
          </a:p>
          <a:p>
            <a:pPr>
              <a:lnSpc>
                <a:spcPct val="105000"/>
              </a:lnSpc>
              <a:spcAft>
                <a:spcPts val="1100"/>
              </a:spcAft>
            </a:pPr>
            <a:r>
              <a:rPr sz="1550" b="1">
                <a:solidFill>
                  <a:srgbClr val="0274DF"/>
                </a:solidFill>
                <a:latin typeface="Segoe UI"/>
              </a:rPr>
              <a:t>▪  </a:t>
            </a:r>
            <a:r>
              <a:rPr sz="1500" b="0">
                <a:solidFill>
                  <a:srgbClr val="12233D"/>
                </a:solidFill>
                <a:latin typeface="Segoe UI"/>
              </a:rPr>
              <a:t>Live summary cards computed from the data</a:t>
            </a:r>
          </a:p>
          <a:p>
            <a:pPr>
              <a:lnSpc>
                <a:spcPct val="105000"/>
              </a:lnSpc>
              <a:spcAft>
                <a:spcPts val="1100"/>
              </a:spcAft>
            </a:pPr>
            <a:r>
              <a:rPr sz="1550" b="1">
                <a:solidFill>
                  <a:srgbClr val="0274DF"/>
                </a:solidFill>
                <a:latin typeface="Segoe UI"/>
              </a:rPr>
              <a:t>▪  </a:t>
            </a:r>
            <a:r>
              <a:rPr sz="1500" b="0">
                <a:solidFill>
                  <a:srgbClr val="12233D"/>
                </a:solidFill>
                <a:latin typeface="Segoe UI"/>
              </a:rPr>
              <a:t>Total Events: 6   ·   Registrations: 449</a:t>
            </a:r>
          </a:p>
          <a:p>
            <a:pPr>
              <a:lnSpc>
                <a:spcPct val="105000"/>
              </a:lnSpc>
              <a:spcAft>
                <a:spcPts val="1100"/>
              </a:spcAft>
            </a:pPr>
            <a:r>
              <a:rPr sz="1550" b="1">
                <a:solidFill>
                  <a:srgbClr val="0274DF"/>
                </a:solidFill>
                <a:latin typeface="Segoe UI"/>
              </a:rPr>
              <a:t>▪  </a:t>
            </a:r>
            <a:r>
              <a:rPr sz="1500" b="0">
                <a:solidFill>
                  <a:srgbClr val="12233D"/>
                </a:solidFill>
                <a:latin typeface="Segoe UI"/>
              </a:rPr>
              <a:t>Attended: 132   ·   Total Seats: 570</a:t>
            </a:r>
          </a:p>
          <a:p>
            <a:pPr>
              <a:lnSpc>
                <a:spcPct val="105000"/>
              </a:lnSpc>
              <a:spcAft>
                <a:spcPts val="1100"/>
              </a:spcAft>
            </a:pPr>
            <a:r>
              <a:rPr sz="1550" b="1">
                <a:solidFill>
                  <a:srgbClr val="0274DF"/>
                </a:solidFill>
                <a:latin typeface="Segoe UI"/>
              </a:rPr>
              <a:t>▪  </a:t>
            </a:r>
            <a:r>
              <a:rPr sz="1500" b="0">
                <a:solidFill>
                  <a:srgbClr val="12233D"/>
                </a:solidFill>
                <a:latin typeface="Segoe UI"/>
              </a:rPr>
              <a:t>Five admin quick actions</a:t>
            </a:r>
          </a:p>
          <a:p>
            <a:pPr>
              <a:lnSpc>
                <a:spcPct val="105000"/>
              </a:lnSpc>
              <a:spcAft>
                <a:spcPts val="1100"/>
              </a:spcAft>
            </a:pPr>
            <a:r>
              <a:rPr sz="1550" b="1">
                <a:solidFill>
                  <a:srgbClr val="0274DF"/>
                </a:solidFill>
                <a:latin typeface="Segoe UI"/>
              </a:rPr>
              <a:t>▪  </a:t>
            </a:r>
            <a:r>
              <a:rPr sz="1400" b="0">
                <a:solidFill>
                  <a:srgbClr val="5A6B82"/>
                </a:solidFill>
                <a:latin typeface="Segoe UI"/>
              </a:rPr>
              <a:t>Create Event, Participants, Attendance, Reports, Users</a:t>
            </a:r>
          </a:p>
          <a:p>
            <a:pPr>
              <a:lnSpc>
                <a:spcPct val="105000"/>
              </a:lnSpc>
              <a:spcAft>
                <a:spcPts val="1100"/>
              </a:spcAft>
            </a:pPr>
            <a:r>
              <a:rPr sz="1550" b="1">
                <a:solidFill>
                  <a:srgbClr val="0274DF"/>
                </a:solidFill>
                <a:latin typeface="Segoe UI"/>
              </a:rPr>
              <a:t>▪  </a:t>
            </a:r>
            <a:r>
              <a:rPr sz="1500" b="0">
                <a:solidFill>
                  <a:srgbClr val="12233D"/>
                </a:solidFill>
                <a:latin typeface="Segoe UI"/>
              </a:rPr>
              <a:t>Upcoming events list with date badges</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04</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Dashboard — Participant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4-dashboard-participant.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Same layout, different content per role</a:t>
            </a:r>
          </a:p>
          <a:p>
            <a:pPr>
              <a:lnSpc>
                <a:spcPct val="105000"/>
              </a:lnSpc>
              <a:spcAft>
                <a:spcPts val="1100"/>
              </a:spcAft>
            </a:pPr>
            <a:r>
              <a:rPr sz="1550" b="1">
                <a:solidFill>
                  <a:srgbClr val="0274DF"/>
                </a:solidFill>
                <a:latin typeface="Segoe UI"/>
              </a:rPr>
              <a:t>▪  </a:t>
            </a:r>
            <a:r>
              <a:rPr sz="1500" b="0">
                <a:solidFill>
                  <a:srgbClr val="12233D"/>
                </a:solidFill>
                <a:latin typeface="Segoe UI"/>
              </a:rPr>
              <a:t>Personalized welcome message</a:t>
            </a:r>
          </a:p>
          <a:p>
            <a:pPr>
              <a:lnSpc>
                <a:spcPct val="105000"/>
              </a:lnSpc>
              <a:spcAft>
                <a:spcPts val="1100"/>
              </a:spcAft>
            </a:pPr>
            <a:r>
              <a:rPr sz="1550" b="1">
                <a:solidFill>
                  <a:srgbClr val="0274DF"/>
                </a:solidFill>
                <a:latin typeface="Segoe UI"/>
              </a:rPr>
              <a:t>▪  </a:t>
            </a:r>
            <a:r>
              <a:rPr sz="1500" b="0">
                <a:solidFill>
                  <a:srgbClr val="12233D"/>
                </a:solidFill>
                <a:latin typeface="Segoe UI"/>
              </a:rPr>
              <a:t>Three participant quick actions</a:t>
            </a:r>
          </a:p>
          <a:p>
            <a:pPr>
              <a:lnSpc>
                <a:spcPct val="105000"/>
              </a:lnSpc>
              <a:spcAft>
                <a:spcPts val="1100"/>
              </a:spcAft>
            </a:pPr>
            <a:r>
              <a:rPr sz="1550" b="1">
                <a:solidFill>
                  <a:srgbClr val="0274DF"/>
                </a:solidFill>
                <a:latin typeface="Segoe UI"/>
              </a:rPr>
              <a:t>▪  </a:t>
            </a:r>
            <a:r>
              <a:rPr sz="1400" b="0">
                <a:solidFill>
                  <a:srgbClr val="5A6B82"/>
                </a:solidFill>
                <a:latin typeface="Segoe UI"/>
              </a:rPr>
              <a:t>Register — join an event</a:t>
            </a:r>
          </a:p>
          <a:p>
            <a:pPr>
              <a:lnSpc>
                <a:spcPct val="105000"/>
              </a:lnSpc>
              <a:spcAft>
                <a:spcPts val="1100"/>
              </a:spcAft>
            </a:pPr>
            <a:r>
              <a:rPr sz="1550" b="1">
                <a:solidFill>
                  <a:srgbClr val="0274DF"/>
                </a:solidFill>
                <a:latin typeface="Segoe UI"/>
              </a:rPr>
              <a:t>▪  </a:t>
            </a:r>
            <a:r>
              <a:rPr sz="1400" b="0">
                <a:solidFill>
                  <a:srgbClr val="5A6B82"/>
                </a:solidFill>
                <a:latin typeface="Segoe UI"/>
              </a:rPr>
              <a:t>My QR Code — show at check-in</a:t>
            </a:r>
          </a:p>
          <a:p>
            <a:pPr>
              <a:lnSpc>
                <a:spcPct val="105000"/>
              </a:lnSpc>
              <a:spcAft>
                <a:spcPts val="1100"/>
              </a:spcAft>
            </a:pPr>
            <a:r>
              <a:rPr sz="1550" b="1">
                <a:solidFill>
                  <a:srgbClr val="0274DF"/>
                </a:solidFill>
                <a:latin typeface="Segoe UI"/>
              </a:rPr>
              <a:t>▪  </a:t>
            </a:r>
            <a:r>
              <a:rPr sz="1400" b="0">
                <a:solidFill>
                  <a:srgbClr val="5A6B82"/>
                </a:solidFill>
                <a:latin typeface="Segoe UI"/>
              </a:rPr>
              <a:t>My Events — my registrations</a:t>
            </a:r>
          </a:p>
          <a:p>
            <a:pPr>
              <a:lnSpc>
                <a:spcPct val="105000"/>
              </a:lnSpc>
              <a:spcAft>
                <a:spcPts val="1100"/>
              </a:spcAft>
            </a:pPr>
            <a:r>
              <a:rPr sz="1550" b="1">
                <a:solidFill>
                  <a:srgbClr val="0274DF"/>
                </a:solidFill>
                <a:latin typeface="Segoe UI"/>
              </a:rPr>
              <a:t>▪  </a:t>
            </a:r>
            <a:r>
              <a:rPr sz="1500" b="0">
                <a:solidFill>
                  <a:srgbClr val="12233D"/>
                </a:solidFill>
                <a:latin typeface="Segoe UI"/>
              </a:rPr>
              <a:t>No admin tools are visible to this role</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05</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Events List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5-events.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All events with date badges</a:t>
            </a:r>
          </a:p>
          <a:p>
            <a:pPr>
              <a:lnSpc>
                <a:spcPct val="105000"/>
              </a:lnSpc>
              <a:spcAft>
                <a:spcPts val="1100"/>
              </a:spcAft>
            </a:pPr>
            <a:r>
              <a:rPr sz="1550" b="1">
                <a:solidFill>
                  <a:srgbClr val="0274DF"/>
                </a:solidFill>
                <a:latin typeface="Segoe UI"/>
              </a:rPr>
              <a:t>▪  </a:t>
            </a:r>
            <a:r>
              <a:rPr sz="1500" b="0">
                <a:solidFill>
                  <a:srgbClr val="12233D"/>
                </a:solidFill>
                <a:latin typeface="Segoe UI"/>
              </a:rPr>
              <a:t>Venue, time, and organizer per event</a:t>
            </a:r>
          </a:p>
          <a:p>
            <a:pPr>
              <a:lnSpc>
                <a:spcPct val="105000"/>
              </a:lnSpc>
              <a:spcAft>
                <a:spcPts val="1100"/>
              </a:spcAft>
            </a:pPr>
            <a:r>
              <a:rPr sz="1550" b="1">
                <a:solidFill>
                  <a:srgbClr val="0274DF"/>
                </a:solidFill>
                <a:latin typeface="Segoe UI"/>
              </a:rPr>
              <a:t>▪  </a:t>
            </a:r>
            <a:r>
              <a:rPr sz="1500" b="0">
                <a:solidFill>
                  <a:srgbClr val="12233D"/>
                </a:solidFill>
                <a:latin typeface="Segoe UI"/>
              </a:rPr>
              <a:t>Registered count against capacity</a:t>
            </a:r>
          </a:p>
          <a:p>
            <a:pPr>
              <a:lnSpc>
                <a:spcPct val="105000"/>
              </a:lnSpc>
              <a:spcAft>
                <a:spcPts val="1100"/>
              </a:spcAft>
            </a:pPr>
            <a:r>
              <a:rPr sz="1550" b="1">
                <a:solidFill>
                  <a:srgbClr val="0274DF"/>
                </a:solidFill>
                <a:latin typeface="Segoe UI"/>
              </a:rPr>
              <a:t>▪  </a:t>
            </a:r>
            <a:r>
              <a:rPr sz="1500" b="0">
                <a:solidFill>
                  <a:srgbClr val="12233D"/>
                </a:solidFill>
                <a:latin typeface="Segoe UI"/>
              </a:rPr>
              <a:t>Admin sees a create (+) button</a:t>
            </a:r>
          </a:p>
          <a:p>
            <a:pPr>
              <a:lnSpc>
                <a:spcPct val="105000"/>
              </a:lnSpc>
              <a:spcAft>
                <a:spcPts val="1100"/>
              </a:spcAft>
            </a:pPr>
            <a:r>
              <a:rPr sz="1550" b="1">
                <a:solidFill>
                  <a:srgbClr val="0274DF"/>
                </a:solidFill>
                <a:latin typeface="Segoe UI"/>
              </a:rPr>
              <a:t>▪  </a:t>
            </a:r>
            <a:r>
              <a:rPr sz="1500" b="0">
                <a:solidFill>
                  <a:srgbClr val="12233D"/>
                </a:solidFill>
                <a:latin typeface="Segoe UI"/>
              </a:rPr>
              <a:t>Tap any card to open Event Details</a:t>
            </a:r>
          </a:p>
          <a:p>
            <a:pPr>
              <a:lnSpc>
                <a:spcPct val="105000"/>
              </a:lnSpc>
              <a:spcAft>
                <a:spcPts val="1100"/>
              </a:spcAft>
            </a:pPr>
            <a:r>
              <a:rPr sz="1550" b="1">
                <a:solidFill>
                  <a:srgbClr val="0274DF"/>
                </a:solidFill>
                <a:latin typeface="Segoe UI"/>
              </a:rPr>
              <a:t>▪  </a:t>
            </a:r>
            <a:r>
              <a:rPr sz="1500" b="0">
                <a:solidFill>
                  <a:srgbClr val="12233D"/>
                </a:solidFill>
                <a:latin typeface="Segoe UI"/>
              </a:rPr>
              <a:t>Empty state shown when there are no events</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06</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Event Details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6-event-detail.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Full event information</a:t>
            </a:r>
          </a:p>
          <a:p>
            <a:pPr>
              <a:lnSpc>
                <a:spcPct val="105000"/>
              </a:lnSpc>
              <a:spcAft>
                <a:spcPts val="1100"/>
              </a:spcAft>
            </a:pPr>
            <a:r>
              <a:rPr sz="1550" b="1">
                <a:solidFill>
                  <a:srgbClr val="0274DF"/>
                </a:solidFill>
                <a:latin typeface="Segoe UI"/>
              </a:rPr>
              <a:t>▪  </a:t>
            </a:r>
            <a:r>
              <a:rPr sz="1500" b="0">
                <a:solidFill>
                  <a:srgbClr val="12233D"/>
                </a:solidFill>
                <a:latin typeface="Segoe UI"/>
              </a:rPr>
              <a:t>Title, date, time, venue, organizer</a:t>
            </a:r>
          </a:p>
          <a:p>
            <a:pPr>
              <a:lnSpc>
                <a:spcPct val="105000"/>
              </a:lnSpc>
              <a:spcAft>
                <a:spcPts val="1100"/>
              </a:spcAft>
            </a:pPr>
            <a:r>
              <a:rPr sz="1550" b="1">
                <a:solidFill>
                  <a:srgbClr val="0274DF"/>
                </a:solidFill>
                <a:latin typeface="Segoe UI"/>
              </a:rPr>
              <a:t>▪  </a:t>
            </a:r>
            <a:r>
              <a:rPr sz="1500" b="0">
                <a:solidFill>
                  <a:srgbClr val="12233D"/>
                </a:solidFill>
                <a:latin typeface="Segoe UI"/>
              </a:rPr>
              <a:t>Description and registration progress bar</a:t>
            </a:r>
          </a:p>
          <a:p>
            <a:pPr>
              <a:lnSpc>
                <a:spcPct val="105000"/>
              </a:lnSpc>
              <a:spcAft>
                <a:spcPts val="1100"/>
              </a:spcAft>
            </a:pPr>
            <a:r>
              <a:rPr sz="1550" b="1">
                <a:solidFill>
                  <a:srgbClr val="0274DF"/>
                </a:solidFill>
                <a:latin typeface="Segoe UI"/>
              </a:rPr>
              <a:t>▪  </a:t>
            </a:r>
            <a:r>
              <a:rPr sz="1500" b="0">
                <a:solidFill>
                  <a:srgbClr val="12233D"/>
                </a:solidFill>
                <a:latin typeface="Segoe UI"/>
              </a:rPr>
              <a:t>Role-aware actions:</a:t>
            </a:r>
          </a:p>
          <a:p>
            <a:pPr>
              <a:lnSpc>
                <a:spcPct val="105000"/>
              </a:lnSpc>
              <a:spcAft>
                <a:spcPts val="1100"/>
              </a:spcAft>
            </a:pPr>
            <a:r>
              <a:rPr sz="1550" b="1">
                <a:solidFill>
                  <a:srgbClr val="0274DF"/>
                </a:solidFill>
                <a:latin typeface="Segoe UI"/>
              </a:rPr>
              <a:t>▪  </a:t>
            </a:r>
            <a:r>
              <a:rPr sz="1400" b="0">
                <a:solidFill>
                  <a:srgbClr val="5A6B82"/>
                </a:solidFill>
                <a:latin typeface="Segoe UI"/>
              </a:rPr>
              <a:t>Admin — Edit and Delete event</a:t>
            </a:r>
          </a:p>
          <a:p>
            <a:pPr>
              <a:lnSpc>
                <a:spcPct val="105000"/>
              </a:lnSpc>
              <a:spcAft>
                <a:spcPts val="1100"/>
              </a:spcAft>
            </a:pPr>
            <a:r>
              <a:rPr sz="1550" b="1">
                <a:solidFill>
                  <a:srgbClr val="0274DF"/>
                </a:solidFill>
                <a:latin typeface="Segoe UI"/>
              </a:rPr>
              <a:t>▪  </a:t>
            </a:r>
            <a:r>
              <a:rPr sz="1400" b="0">
                <a:solidFill>
                  <a:srgbClr val="5A6B82"/>
                </a:solidFill>
                <a:latin typeface="Segoe UI"/>
              </a:rPr>
              <a:t>Participant — Register for this event</a:t>
            </a:r>
          </a:p>
          <a:p>
            <a:pPr>
              <a:lnSpc>
                <a:spcPct val="105000"/>
              </a:lnSpc>
              <a:spcAft>
                <a:spcPts val="1100"/>
              </a:spcAft>
            </a:pPr>
            <a:r>
              <a:rPr sz="1550" b="1">
                <a:solidFill>
                  <a:srgbClr val="0274DF"/>
                </a:solidFill>
                <a:latin typeface="Segoe UI"/>
              </a:rPr>
              <a:t>▪  </a:t>
            </a:r>
            <a:r>
              <a:rPr sz="1400" b="0">
                <a:solidFill>
                  <a:srgbClr val="5A6B82"/>
                </a:solidFill>
                <a:latin typeface="Segoe UI"/>
              </a:rPr>
              <a:t>Staff — view only</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07</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Create Event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7-create-event.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Admin-only event creation form</a:t>
            </a:r>
          </a:p>
          <a:p>
            <a:pPr>
              <a:lnSpc>
                <a:spcPct val="105000"/>
              </a:lnSpc>
              <a:spcAft>
                <a:spcPts val="1100"/>
              </a:spcAft>
            </a:pPr>
            <a:r>
              <a:rPr sz="1550" b="1">
                <a:solidFill>
                  <a:srgbClr val="0274DF"/>
                </a:solidFill>
                <a:latin typeface="Segoe UI"/>
              </a:rPr>
              <a:t>▪  </a:t>
            </a:r>
            <a:r>
              <a:rPr sz="1500" b="0">
                <a:solidFill>
                  <a:srgbClr val="12233D"/>
                </a:solidFill>
                <a:latin typeface="Segoe UI"/>
              </a:rPr>
              <a:t>Title, Venue, Date, Time fields</a:t>
            </a:r>
          </a:p>
          <a:p>
            <a:pPr>
              <a:lnSpc>
                <a:spcPct val="105000"/>
              </a:lnSpc>
              <a:spcAft>
                <a:spcPts val="1100"/>
              </a:spcAft>
            </a:pPr>
            <a:r>
              <a:rPr sz="1550" b="1">
                <a:solidFill>
                  <a:srgbClr val="0274DF"/>
                </a:solidFill>
                <a:latin typeface="Segoe UI"/>
              </a:rPr>
              <a:t>▪  </a:t>
            </a:r>
            <a:r>
              <a:rPr sz="1500" b="0">
                <a:solidFill>
                  <a:srgbClr val="12233D"/>
                </a:solidFill>
                <a:latin typeface="Segoe UI"/>
              </a:rPr>
              <a:t>Capacity and Description fields</a:t>
            </a:r>
          </a:p>
          <a:p>
            <a:pPr>
              <a:lnSpc>
                <a:spcPct val="105000"/>
              </a:lnSpc>
              <a:spcAft>
                <a:spcPts val="1100"/>
              </a:spcAft>
            </a:pPr>
            <a:r>
              <a:rPr sz="1550" b="1">
                <a:solidFill>
                  <a:srgbClr val="0274DF"/>
                </a:solidFill>
                <a:latin typeface="Segoe UI"/>
              </a:rPr>
              <a:t>▪  </a:t>
            </a:r>
            <a:r>
              <a:rPr sz="1500" b="0">
                <a:solidFill>
                  <a:srgbClr val="12233D"/>
                </a:solidFill>
                <a:latin typeface="Segoe UI"/>
              </a:rPr>
              <a:t>Required-field validation</a:t>
            </a:r>
          </a:p>
          <a:p>
            <a:pPr>
              <a:lnSpc>
                <a:spcPct val="105000"/>
              </a:lnSpc>
              <a:spcAft>
                <a:spcPts val="1100"/>
              </a:spcAft>
            </a:pPr>
            <a:r>
              <a:rPr sz="1550" b="1">
                <a:solidFill>
                  <a:srgbClr val="0274DF"/>
                </a:solidFill>
                <a:latin typeface="Segoe UI"/>
              </a:rPr>
              <a:t>▪  </a:t>
            </a:r>
            <a:r>
              <a:rPr sz="1500" b="0">
                <a:solidFill>
                  <a:srgbClr val="12233D"/>
                </a:solidFill>
                <a:latin typeface="Segoe UI"/>
              </a:rPr>
              <a:t>Capacity must be greater than zero</a:t>
            </a:r>
          </a:p>
          <a:p>
            <a:pPr>
              <a:lnSpc>
                <a:spcPct val="105000"/>
              </a:lnSpc>
              <a:spcAft>
                <a:spcPts val="1100"/>
              </a:spcAft>
            </a:pPr>
            <a:r>
              <a:rPr sz="1550" b="1">
                <a:solidFill>
                  <a:srgbClr val="0274DF"/>
                </a:solidFill>
                <a:latin typeface="Segoe UI"/>
              </a:rPr>
              <a:t>▪  </a:t>
            </a:r>
            <a:r>
              <a:rPr sz="1500" b="0">
                <a:solidFill>
                  <a:srgbClr val="12233D"/>
                </a:solidFill>
                <a:latin typeface="Segoe UI"/>
              </a:rPr>
              <a:t>New event is added to the events store</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08</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Edit Event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8-edit-event.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Admin-only edit form</a:t>
            </a:r>
          </a:p>
          <a:p>
            <a:pPr>
              <a:lnSpc>
                <a:spcPct val="105000"/>
              </a:lnSpc>
              <a:spcAft>
                <a:spcPts val="1100"/>
              </a:spcAft>
            </a:pPr>
            <a:r>
              <a:rPr sz="1550" b="1">
                <a:solidFill>
                  <a:srgbClr val="0274DF"/>
                </a:solidFill>
                <a:latin typeface="Segoe UI"/>
              </a:rPr>
              <a:t>▪  </a:t>
            </a:r>
            <a:r>
              <a:rPr sz="1500" b="0">
                <a:solidFill>
                  <a:srgbClr val="12233D"/>
                </a:solidFill>
                <a:latin typeface="Segoe UI"/>
              </a:rPr>
              <a:t>Pre-filled with the existing event data</a:t>
            </a:r>
          </a:p>
          <a:p>
            <a:pPr>
              <a:lnSpc>
                <a:spcPct val="105000"/>
              </a:lnSpc>
              <a:spcAft>
                <a:spcPts val="1100"/>
              </a:spcAft>
            </a:pPr>
            <a:r>
              <a:rPr sz="1550" b="1">
                <a:solidFill>
                  <a:srgbClr val="0274DF"/>
                </a:solidFill>
                <a:latin typeface="Segoe UI"/>
              </a:rPr>
              <a:t>▪  </a:t>
            </a:r>
            <a:r>
              <a:rPr sz="1500" b="0">
                <a:solidFill>
                  <a:srgbClr val="12233D"/>
                </a:solidFill>
                <a:latin typeface="Segoe UI"/>
              </a:rPr>
              <a:t>Same validation rules as Create Event</a:t>
            </a:r>
          </a:p>
          <a:p>
            <a:pPr>
              <a:lnSpc>
                <a:spcPct val="105000"/>
              </a:lnSpc>
              <a:spcAft>
                <a:spcPts val="1100"/>
              </a:spcAft>
            </a:pPr>
            <a:r>
              <a:rPr sz="1550" b="1">
                <a:solidFill>
                  <a:srgbClr val="0274DF"/>
                </a:solidFill>
                <a:latin typeface="Segoe UI"/>
              </a:rPr>
              <a:t>▪  </a:t>
            </a:r>
            <a:r>
              <a:rPr sz="1500" b="0">
                <a:solidFill>
                  <a:srgbClr val="12233D"/>
                </a:solidFill>
                <a:latin typeface="Segoe UI"/>
              </a:rPr>
              <a:t>Saving updates the event in the store</a:t>
            </a:r>
          </a:p>
          <a:p>
            <a:pPr>
              <a:lnSpc>
                <a:spcPct val="105000"/>
              </a:lnSpc>
              <a:spcAft>
                <a:spcPts val="1100"/>
              </a:spcAft>
            </a:pPr>
            <a:r>
              <a:rPr sz="1550" b="1">
                <a:solidFill>
                  <a:srgbClr val="0274DF"/>
                </a:solidFill>
                <a:latin typeface="Segoe UI"/>
              </a:rPr>
              <a:t>▪  </a:t>
            </a:r>
            <a:r>
              <a:rPr sz="1500" b="0">
                <a:solidFill>
                  <a:srgbClr val="12233D"/>
                </a:solidFill>
                <a:latin typeface="Segoe UI"/>
              </a:rPr>
              <a:t>Delete is available from Event Details</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09</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Register for an Event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9-register-event.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Participant browses open events</a:t>
            </a:r>
          </a:p>
          <a:p>
            <a:pPr>
              <a:lnSpc>
                <a:spcPct val="105000"/>
              </a:lnSpc>
              <a:spcAft>
                <a:spcPts val="1100"/>
              </a:spcAft>
            </a:pPr>
            <a:r>
              <a:rPr sz="1550" b="1">
                <a:solidFill>
                  <a:srgbClr val="0274DF"/>
                </a:solidFill>
                <a:latin typeface="Segoe UI"/>
              </a:rPr>
              <a:t>▪  </a:t>
            </a:r>
            <a:r>
              <a:rPr sz="1500" b="0">
                <a:solidFill>
                  <a:srgbClr val="12233D"/>
                </a:solidFill>
                <a:latin typeface="Segoe UI"/>
              </a:rPr>
              <a:t>Seat availability shown per event</a:t>
            </a:r>
          </a:p>
          <a:p>
            <a:pPr>
              <a:lnSpc>
                <a:spcPct val="105000"/>
              </a:lnSpc>
              <a:spcAft>
                <a:spcPts val="1100"/>
              </a:spcAft>
            </a:pPr>
            <a:r>
              <a:rPr sz="1550" b="1">
                <a:solidFill>
                  <a:srgbClr val="0274DF"/>
                </a:solidFill>
                <a:latin typeface="Segoe UI"/>
              </a:rPr>
              <a:t>▪  </a:t>
            </a:r>
            <a:r>
              <a:rPr sz="1500" b="0">
                <a:solidFill>
                  <a:srgbClr val="12233D"/>
                </a:solidFill>
                <a:latin typeface="Segoe UI"/>
              </a:rPr>
              <a:t>One-tap registration</a:t>
            </a:r>
          </a:p>
          <a:p>
            <a:pPr>
              <a:lnSpc>
                <a:spcPct val="105000"/>
              </a:lnSpc>
              <a:spcAft>
                <a:spcPts val="1100"/>
              </a:spcAft>
            </a:pPr>
            <a:r>
              <a:rPr sz="1550" b="1">
                <a:solidFill>
                  <a:srgbClr val="0274DF"/>
                </a:solidFill>
                <a:latin typeface="Segoe UI"/>
              </a:rPr>
              <a:t>▪  </a:t>
            </a:r>
            <a:r>
              <a:rPr sz="1500" b="0">
                <a:solidFill>
                  <a:srgbClr val="12233D"/>
                </a:solidFill>
                <a:latin typeface="Segoe UI"/>
              </a:rPr>
              <a:t>Duplicate registration is prevented</a:t>
            </a:r>
          </a:p>
          <a:p>
            <a:pPr>
              <a:lnSpc>
                <a:spcPct val="105000"/>
              </a:lnSpc>
              <a:spcAft>
                <a:spcPts val="1100"/>
              </a:spcAft>
            </a:pPr>
            <a:r>
              <a:rPr sz="1550" b="1">
                <a:solidFill>
                  <a:srgbClr val="0274DF"/>
                </a:solidFill>
                <a:latin typeface="Segoe UI"/>
              </a:rPr>
              <a:t>▪  </a:t>
            </a:r>
            <a:r>
              <a:rPr sz="1500" b="0">
                <a:solidFill>
                  <a:srgbClr val="12233D"/>
                </a:solidFill>
                <a:latin typeface="Segoe UI"/>
              </a:rPr>
              <a:t>Registration is stored in memory</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10</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My Registrations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0-my-registrations.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The participant's own registrations</a:t>
            </a:r>
          </a:p>
          <a:p>
            <a:pPr>
              <a:lnSpc>
                <a:spcPct val="105000"/>
              </a:lnSpc>
              <a:spcAft>
                <a:spcPts val="1100"/>
              </a:spcAft>
            </a:pPr>
            <a:r>
              <a:rPr sz="1550" b="1">
                <a:solidFill>
                  <a:srgbClr val="0274DF"/>
                </a:solidFill>
                <a:latin typeface="Segoe UI"/>
              </a:rPr>
              <a:t>▪  </a:t>
            </a:r>
            <a:r>
              <a:rPr sz="1500" b="0">
                <a:solidFill>
                  <a:srgbClr val="12233D"/>
                </a:solidFill>
                <a:latin typeface="Segoe UI"/>
              </a:rPr>
              <a:t>Status per event</a:t>
            </a:r>
          </a:p>
          <a:p>
            <a:pPr>
              <a:lnSpc>
                <a:spcPct val="105000"/>
              </a:lnSpc>
              <a:spcAft>
                <a:spcPts val="1100"/>
              </a:spcAft>
            </a:pPr>
            <a:r>
              <a:rPr sz="1550" b="1">
                <a:solidFill>
                  <a:srgbClr val="0274DF"/>
                </a:solidFill>
                <a:latin typeface="Segoe UI"/>
              </a:rPr>
              <a:t>▪  </a:t>
            </a:r>
            <a:r>
              <a:rPr sz="1400" b="0">
                <a:solidFill>
                  <a:srgbClr val="5A6B82"/>
                </a:solidFill>
                <a:latin typeface="Segoe UI"/>
              </a:rPr>
              <a:t>Registered vs Attended</a:t>
            </a:r>
          </a:p>
          <a:p>
            <a:pPr>
              <a:lnSpc>
                <a:spcPct val="105000"/>
              </a:lnSpc>
              <a:spcAft>
                <a:spcPts val="1100"/>
              </a:spcAft>
            </a:pPr>
            <a:r>
              <a:rPr sz="1550" b="1">
                <a:solidFill>
                  <a:srgbClr val="0274DF"/>
                </a:solidFill>
                <a:latin typeface="Segoe UI"/>
              </a:rPr>
              <a:t>▪  </a:t>
            </a:r>
            <a:r>
              <a:rPr sz="1500" b="0">
                <a:solidFill>
                  <a:srgbClr val="12233D"/>
                </a:solidFill>
                <a:latin typeface="Segoe UI"/>
              </a:rPr>
              <a:t>Link through to the personal QR code</a:t>
            </a:r>
          </a:p>
          <a:p>
            <a:pPr>
              <a:lnSpc>
                <a:spcPct val="105000"/>
              </a:lnSpc>
              <a:spcAft>
                <a:spcPts val="1100"/>
              </a:spcAft>
            </a:pPr>
            <a:r>
              <a:rPr sz="1550" b="1">
                <a:solidFill>
                  <a:srgbClr val="0274DF"/>
                </a:solidFill>
                <a:latin typeface="Segoe UI"/>
              </a:rPr>
              <a:t>▪  </a:t>
            </a:r>
            <a:r>
              <a:rPr sz="1500" b="0">
                <a:solidFill>
                  <a:srgbClr val="12233D"/>
                </a:solidFill>
                <a:latin typeface="Segoe UI"/>
              </a:rPr>
              <a:t>Only the signed-in participant's records</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11</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My QR Code</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1-my-qr.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The participant's check-in QR code</a:t>
            </a:r>
          </a:p>
          <a:p>
            <a:pPr>
              <a:lnSpc>
                <a:spcPct val="105000"/>
              </a:lnSpc>
              <a:spcAft>
                <a:spcPts val="1100"/>
              </a:spcAft>
            </a:pPr>
            <a:r>
              <a:rPr sz="1550" b="1">
                <a:solidFill>
                  <a:srgbClr val="0274DF"/>
                </a:solidFill>
                <a:latin typeface="Segoe UI"/>
              </a:rPr>
              <a:t>▪  </a:t>
            </a:r>
            <a:r>
              <a:rPr sz="1500" b="0">
                <a:solidFill>
                  <a:srgbClr val="12233D"/>
                </a:solidFill>
                <a:latin typeface="Segoe UI"/>
              </a:rPr>
              <a:t>Tied to one specific registration</a:t>
            </a:r>
          </a:p>
          <a:p>
            <a:pPr>
              <a:lnSpc>
                <a:spcPct val="105000"/>
              </a:lnSpc>
              <a:spcAft>
                <a:spcPts val="1100"/>
              </a:spcAft>
            </a:pPr>
            <a:r>
              <a:rPr sz="1550" b="1">
                <a:solidFill>
                  <a:srgbClr val="0274DF"/>
                </a:solidFill>
                <a:latin typeface="Segoe UI"/>
              </a:rPr>
              <a:t>▪  </a:t>
            </a:r>
            <a:r>
              <a:rPr sz="1500" b="0">
                <a:solidFill>
                  <a:srgbClr val="12233D"/>
                </a:solidFill>
                <a:latin typeface="Segoe UI"/>
              </a:rPr>
              <a:t>Contains the registration reference</a:t>
            </a:r>
          </a:p>
          <a:p>
            <a:pPr>
              <a:lnSpc>
                <a:spcPct val="105000"/>
              </a:lnSpc>
              <a:spcAft>
                <a:spcPts val="1100"/>
              </a:spcAft>
            </a:pPr>
            <a:r>
              <a:rPr sz="1550" b="1">
                <a:solidFill>
                  <a:srgbClr val="0274DF"/>
                </a:solidFill>
                <a:latin typeface="Segoe UI"/>
              </a:rPr>
              <a:t>▪  </a:t>
            </a:r>
            <a:r>
              <a:rPr sz="1500" b="0">
                <a:solidFill>
                  <a:srgbClr val="12233D"/>
                </a:solidFill>
                <a:latin typeface="Segoe UI"/>
              </a:rPr>
              <a:t>Displayed full-screen for easy scanning</a:t>
            </a:r>
          </a:p>
          <a:p>
            <a:pPr>
              <a:lnSpc>
                <a:spcPct val="105000"/>
              </a:lnSpc>
              <a:spcAft>
                <a:spcPts val="1100"/>
              </a:spcAft>
            </a:pPr>
            <a:r>
              <a:rPr sz="1550" b="1">
                <a:solidFill>
                  <a:srgbClr val="0274DF"/>
                </a:solidFill>
                <a:latin typeface="Segoe UI"/>
              </a:rPr>
              <a:t>▪  </a:t>
            </a:r>
            <a:r>
              <a:rPr sz="1400" b="0">
                <a:solidFill>
                  <a:srgbClr val="B57A00"/>
                </a:solidFill>
                <a:latin typeface="Segoe UI"/>
              </a:rPr>
              <a:t>Simulated pattern — clearly labeled, not scannable</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12</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Scan QR — Check-In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2-scan-qr.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Staff / Admin check-in scanner</a:t>
            </a:r>
          </a:p>
          <a:p>
            <a:pPr>
              <a:lnSpc>
                <a:spcPct val="105000"/>
              </a:lnSpc>
              <a:spcAft>
                <a:spcPts val="1100"/>
              </a:spcAft>
            </a:pPr>
            <a:r>
              <a:rPr sz="1550" b="1">
                <a:solidFill>
                  <a:srgbClr val="0274DF"/>
                </a:solidFill>
                <a:latin typeface="Segoe UI"/>
              </a:rPr>
              <a:t>▪  </a:t>
            </a:r>
            <a:r>
              <a:rPr sz="1500" b="0">
                <a:solidFill>
                  <a:srgbClr val="12233D"/>
                </a:solidFill>
                <a:latin typeface="Segoe UI"/>
              </a:rPr>
              <a:t>Simulated camera scanning</a:t>
            </a:r>
          </a:p>
          <a:p>
            <a:pPr>
              <a:lnSpc>
                <a:spcPct val="105000"/>
              </a:lnSpc>
              <a:spcAft>
                <a:spcPts val="1100"/>
              </a:spcAft>
            </a:pPr>
            <a:r>
              <a:rPr sz="1550" b="1">
                <a:solidFill>
                  <a:srgbClr val="0274DF"/>
                </a:solidFill>
                <a:latin typeface="Segoe UI"/>
              </a:rPr>
              <a:t>▪  </a:t>
            </a:r>
            <a:r>
              <a:rPr sz="1500" b="0">
                <a:solidFill>
                  <a:srgbClr val="12233D"/>
                </a:solidFill>
                <a:latin typeface="Segoe UI"/>
              </a:rPr>
              <a:t>Verifies the registration</a:t>
            </a:r>
          </a:p>
          <a:p>
            <a:pPr>
              <a:lnSpc>
                <a:spcPct val="105000"/>
              </a:lnSpc>
              <a:spcAft>
                <a:spcPts val="1100"/>
              </a:spcAft>
            </a:pPr>
            <a:r>
              <a:rPr sz="1550" b="1">
                <a:solidFill>
                  <a:srgbClr val="0274DF"/>
                </a:solidFill>
                <a:latin typeface="Segoe UI"/>
              </a:rPr>
              <a:t>▪  </a:t>
            </a:r>
            <a:r>
              <a:rPr sz="1500" b="0">
                <a:solidFill>
                  <a:srgbClr val="12233D"/>
                </a:solidFill>
                <a:latin typeface="Segoe UI"/>
              </a:rPr>
              <a:t>Prevents duplicate check-in</a:t>
            </a:r>
          </a:p>
          <a:p>
            <a:pPr>
              <a:lnSpc>
                <a:spcPct val="105000"/>
              </a:lnSpc>
              <a:spcAft>
                <a:spcPts val="1100"/>
              </a:spcAft>
            </a:pPr>
            <a:r>
              <a:rPr sz="1550" b="1">
                <a:solidFill>
                  <a:srgbClr val="0274DF"/>
                </a:solidFill>
                <a:latin typeface="Segoe UI"/>
              </a:rPr>
              <a:t>▪  </a:t>
            </a:r>
            <a:r>
              <a:rPr sz="1500" b="0">
                <a:solidFill>
                  <a:srgbClr val="12233D"/>
                </a:solidFill>
                <a:latin typeface="Segoe UI"/>
              </a:rPr>
              <a:t>Outcomes:</a:t>
            </a:r>
          </a:p>
          <a:p>
            <a:pPr>
              <a:lnSpc>
                <a:spcPct val="105000"/>
              </a:lnSpc>
              <a:spcAft>
                <a:spcPts val="1100"/>
              </a:spcAft>
            </a:pPr>
            <a:r>
              <a:rPr sz="1550" b="1">
                <a:solidFill>
                  <a:srgbClr val="0274DF"/>
                </a:solidFill>
                <a:latin typeface="Segoe UI"/>
              </a:rPr>
              <a:t>▪  </a:t>
            </a:r>
            <a:r>
              <a:rPr sz="1400" b="0">
                <a:solidFill>
                  <a:srgbClr val="0B7A4B"/>
                </a:solidFill>
                <a:latin typeface="Segoe UI"/>
              </a:rPr>
              <a:t>Valid — checked in successfully</a:t>
            </a:r>
          </a:p>
          <a:p>
            <a:pPr>
              <a:lnSpc>
                <a:spcPct val="105000"/>
              </a:lnSpc>
              <a:spcAft>
                <a:spcPts val="1100"/>
              </a:spcAft>
            </a:pPr>
            <a:r>
              <a:rPr sz="1550" b="1">
                <a:solidFill>
                  <a:srgbClr val="0274DF"/>
                </a:solidFill>
                <a:latin typeface="Segoe UI"/>
              </a:rPr>
              <a:t>▪  </a:t>
            </a:r>
            <a:r>
              <a:rPr sz="1400" b="0">
                <a:solidFill>
                  <a:srgbClr val="B57A00"/>
                </a:solidFill>
                <a:latin typeface="Segoe UI"/>
              </a:rPr>
              <a:t>Already checked in — blocked</a:t>
            </a:r>
          </a:p>
          <a:p>
            <a:pPr>
              <a:lnSpc>
                <a:spcPct val="105000"/>
              </a:lnSpc>
              <a:spcAft>
                <a:spcPts val="1100"/>
              </a:spcAft>
            </a:pPr>
            <a:r>
              <a:rPr sz="1550" b="1">
                <a:solidFill>
                  <a:srgbClr val="0274DF"/>
                </a:solidFill>
                <a:latin typeface="Segoe UI"/>
              </a:rPr>
              <a:t>▪  </a:t>
            </a:r>
            <a:r>
              <a:rPr sz="1400" b="0">
                <a:solidFill>
                  <a:srgbClr val="CE2A1E"/>
                </a:solidFill>
                <a:latin typeface="Segoe UI"/>
              </a:rPr>
              <a:t>Not registered — rejected</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13</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Attendance</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3-attendance.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Check-in records per event</a:t>
            </a:r>
          </a:p>
          <a:p>
            <a:pPr>
              <a:lnSpc>
                <a:spcPct val="105000"/>
              </a:lnSpc>
              <a:spcAft>
                <a:spcPts val="1100"/>
              </a:spcAft>
            </a:pPr>
            <a:r>
              <a:rPr sz="1550" b="1">
                <a:solidFill>
                  <a:srgbClr val="0274DF"/>
                </a:solidFill>
                <a:latin typeface="Segoe UI"/>
              </a:rPr>
              <a:t>▪  </a:t>
            </a:r>
            <a:r>
              <a:rPr sz="1500" b="0">
                <a:solidFill>
                  <a:srgbClr val="12233D"/>
                </a:solidFill>
                <a:latin typeface="Segoe UI"/>
              </a:rPr>
              <a:t>Present count against registered count</a:t>
            </a:r>
          </a:p>
          <a:p>
            <a:pPr>
              <a:lnSpc>
                <a:spcPct val="105000"/>
              </a:lnSpc>
              <a:spcAft>
                <a:spcPts val="1100"/>
              </a:spcAft>
            </a:pPr>
            <a:r>
              <a:rPr sz="1550" b="1">
                <a:solidFill>
                  <a:srgbClr val="0274DF"/>
                </a:solidFill>
                <a:latin typeface="Segoe UI"/>
              </a:rPr>
              <a:t>▪  </a:t>
            </a:r>
            <a:r>
              <a:rPr sz="1500" b="0">
                <a:solidFill>
                  <a:srgbClr val="12233D"/>
                </a:solidFill>
                <a:latin typeface="Segoe UI"/>
              </a:rPr>
              <a:t>Per-participant check-in state</a:t>
            </a:r>
          </a:p>
          <a:p>
            <a:pPr>
              <a:lnSpc>
                <a:spcPct val="105000"/>
              </a:lnSpc>
              <a:spcAft>
                <a:spcPts val="1100"/>
              </a:spcAft>
            </a:pPr>
            <a:r>
              <a:rPr sz="1550" b="1">
                <a:solidFill>
                  <a:srgbClr val="0274DF"/>
                </a:solidFill>
                <a:latin typeface="Segoe UI"/>
              </a:rPr>
              <a:t>▪  </a:t>
            </a:r>
            <a:r>
              <a:rPr sz="1500" b="0">
                <a:solidFill>
                  <a:srgbClr val="12233D"/>
                </a:solidFill>
                <a:latin typeface="Segoe UI"/>
              </a:rPr>
              <a:t>Duplicate check-in is prevented</a:t>
            </a:r>
          </a:p>
          <a:p>
            <a:pPr>
              <a:lnSpc>
                <a:spcPct val="105000"/>
              </a:lnSpc>
              <a:spcAft>
                <a:spcPts val="1100"/>
              </a:spcAft>
            </a:pPr>
            <a:r>
              <a:rPr sz="1550" b="1">
                <a:solidFill>
                  <a:srgbClr val="0274DF"/>
                </a:solidFill>
                <a:latin typeface="Segoe UI"/>
              </a:rPr>
              <a:t>▪  </a:t>
            </a:r>
            <a:r>
              <a:rPr sz="1500" b="0">
                <a:solidFill>
                  <a:srgbClr val="12233D"/>
                </a:solidFill>
                <a:latin typeface="Segoe UI"/>
              </a:rPr>
              <a:t>Visible to Admin and Staff only</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14</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Participants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4-participants.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Registered participants per event</a:t>
            </a:r>
          </a:p>
          <a:p>
            <a:pPr>
              <a:lnSpc>
                <a:spcPct val="105000"/>
              </a:lnSpc>
              <a:spcAft>
                <a:spcPts val="1100"/>
              </a:spcAft>
            </a:pPr>
            <a:r>
              <a:rPr sz="1550" b="1">
                <a:solidFill>
                  <a:srgbClr val="0274DF"/>
                </a:solidFill>
                <a:latin typeface="Segoe UI"/>
              </a:rPr>
              <a:t>▪  </a:t>
            </a:r>
            <a:r>
              <a:rPr sz="1500" b="0">
                <a:solidFill>
                  <a:srgbClr val="12233D"/>
                </a:solidFill>
                <a:latin typeface="Segoe UI"/>
              </a:rPr>
              <a:t>Name, email, and role per record</a:t>
            </a:r>
          </a:p>
          <a:p>
            <a:pPr>
              <a:lnSpc>
                <a:spcPct val="105000"/>
              </a:lnSpc>
              <a:spcAft>
                <a:spcPts val="1100"/>
              </a:spcAft>
            </a:pPr>
            <a:r>
              <a:rPr sz="1550" b="1">
                <a:solidFill>
                  <a:srgbClr val="0274DF"/>
                </a:solidFill>
                <a:latin typeface="Segoe UI"/>
              </a:rPr>
              <a:t>▪  </a:t>
            </a:r>
            <a:r>
              <a:rPr sz="1500" b="0">
                <a:solidFill>
                  <a:srgbClr val="12233D"/>
                </a:solidFill>
                <a:latin typeface="Segoe UI"/>
              </a:rPr>
              <a:t>Check-in status indicator</a:t>
            </a:r>
          </a:p>
          <a:p>
            <a:pPr>
              <a:lnSpc>
                <a:spcPct val="105000"/>
              </a:lnSpc>
              <a:spcAft>
                <a:spcPts val="1100"/>
              </a:spcAft>
            </a:pPr>
            <a:r>
              <a:rPr sz="1550" b="1">
                <a:solidFill>
                  <a:srgbClr val="0274DF"/>
                </a:solidFill>
                <a:latin typeface="Segoe UI"/>
              </a:rPr>
              <a:t>▪  </a:t>
            </a:r>
            <a:r>
              <a:rPr sz="1500" b="0">
                <a:solidFill>
                  <a:srgbClr val="12233D"/>
                </a:solidFill>
                <a:latin typeface="Segoe UI"/>
              </a:rPr>
              <a:t>Sample data, clearly for demonstration</a:t>
            </a:r>
          </a:p>
          <a:p>
            <a:pPr>
              <a:lnSpc>
                <a:spcPct val="105000"/>
              </a:lnSpc>
              <a:spcAft>
                <a:spcPts val="1100"/>
              </a:spcAft>
            </a:pPr>
            <a:r>
              <a:rPr sz="1550" b="1">
                <a:solidFill>
                  <a:srgbClr val="0274DF"/>
                </a:solidFill>
                <a:latin typeface="Segoe UI"/>
              </a:rPr>
              <a:t>▪  </a:t>
            </a:r>
            <a:r>
              <a:rPr sz="1500" b="0">
                <a:solidFill>
                  <a:srgbClr val="12233D"/>
                </a:solidFill>
                <a:latin typeface="Segoe UI"/>
              </a:rPr>
              <a:t>Visible to Admin and Staff only</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15</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Reports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5-reports.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Registration and attendance summary</a:t>
            </a:r>
          </a:p>
          <a:p>
            <a:pPr>
              <a:lnSpc>
                <a:spcPct val="105000"/>
              </a:lnSpc>
              <a:spcAft>
                <a:spcPts val="1100"/>
              </a:spcAft>
            </a:pPr>
            <a:r>
              <a:rPr sz="1550" b="1">
                <a:solidFill>
                  <a:srgbClr val="0274DF"/>
                </a:solidFill>
                <a:latin typeface="Segoe UI"/>
              </a:rPr>
              <a:t>▪  </a:t>
            </a:r>
            <a:r>
              <a:rPr sz="1500" b="0">
                <a:solidFill>
                  <a:srgbClr val="12233D"/>
                </a:solidFill>
                <a:latin typeface="Segoe UI"/>
              </a:rPr>
              <a:t>Per-event statistics</a:t>
            </a:r>
          </a:p>
          <a:p>
            <a:pPr>
              <a:lnSpc>
                <a:spcPct val="105000"/>
              </a:lnSpc>
              <a:spcAft>
                <a:spcPts val="1100"/>
              </a:spcAft>
            </a:pPr>
            <a:r>
              <a:rPr sz="1550" b="1">
                <a:solidFill>
                  <a:srgbClr val="0274DF"/>
                </a:solidFill>
                <a:latin typeface="Segoe UI"/>
              </a:rPr>
              <a:t>▪  </a:t>
            </a:r>
            <a:r>
              <a:rPr sz="1500" b="0">
                <a:solidFill>
                  <a:srgbClr val="12233D"/>
                </a:solidFill>
                <a:latin typeface="Segoe UI"/>
              </a:rPr>
              <a:t>Derived from the live event data</a:t>
            </a:r>
          </a:p>
          <a:p>
            <a:pPr>
              <a:lnSpc>
                <a:spcPct val="105000"/>
              </a:lnSpc>
              <a:spcAft>
                <a:spcPts val="1100"/>
              </a:spcAft>
            </a:pPr>
            <a:r>
              <a:rPr sz="1550" b="1">
                <a:solidFill>
                  <a:srgbClr val="0274DF"/>
                </a:solidFill>
                <a:latin typeface="Segoe UI"/>
              </a:rPr>
              <a:t>▪  </a:t>
            </a:r>
            <a:r>
              <a:rPr sz="1500" b="0">
                <a:solidFill>
                  <a:srgbClr val="12233D"/>
                </a:solidFill>
                <a:latin typeface="Segoe UI"/>
              </a:rPr>
              <a:t>Admin only</a:t>
            </a:r>
          </a:p>
          <a:p>
            <a:pPr>
              <a:lnSpc>
                <a:spcPct val="105000"/>
              </a:lnSpc>
              <a:spcAft>
                <a:spcPts val="1100"/>
              </a:spcAft>
            </a:pPr>
            <a:r>
              <a:rPr sz="1550" b="1">
                <a:solidFill>
                  <a:srgbClr val="0274DF"/>
                </a:solidFill>
                <a:latin typeface="Segoe UI"/>
              </a:rPr>
              <a:t>▪  </a:t>
            </a:r>
            <a:r>
              <a:rPr sz="1400" b="0">
                <a:solidFill>
                  <a:srgbClr val="B57A00"/>
                </a:solidFill>
                <a:latin typeface="Segoe UI"/>
              </a:rPr>
              <a:t>Export action shows a notice (no backend)</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16</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User Management</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6-user-management.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List of user accounts with roles</a:t>
            </a:r>
          </a:p>
          <a:p>
            <a:pPr>
              <a:lnSpc>
                <a:spcPct val="105000"/>
              </a:lnSpc>
              <a:spcAft>
                <a:spcPts val="1100"/>
              </a:spcAft>
            </a:pPr>
            <a:r>
              <a:rPr sz="1550" b="1">
                <a:solidFill>
                  <a:srgbClr val="0274DF"/>
                </a:solidFill>
                <a:latin typeface="Segoe UI"/>
              </a:rPr>
              <a:t>▪  </a:t>
            </a:r>
            <a:r>
              <a:rPr sz="1500" b="0">
                <a:solidFill>
                  <a:srgbClr val="12233D"/>
                </a:solidFill>
                <a:latin typeface="Segoe UI"/>
              </a:rPr>
              <a:t>Admin, Staff, and Participant accounts</a:t>
            </a:r>
          </a:p>
          <a:p>
            <a:pPr>
              <a:lnSpc>
                <a:spcPct val="105000"/>
              </a:lnSpc>
              <a:spcAft>
                <a:spcPts val="1100"/>
              </a:spcAft>
            </a:pPr>
            <a:r>
              <a:rPr sz="1550" b="1">
                <a:solidFill>
                  <a:srgbClr val="0274DF"/>
                </a:solidFill>
                <a:latin typeface="Segoe UI"/>
              </a:rPr>
              <a:t>▪  </a:t>
            </a:r>
            <a:r>
              <a:rPr sz="1500" b="0">
                <a:solidFill>
                  <a:srgbClr val="12233D"/>
                </a:solidFill>
                <a:latin typeface="Segoe UI"/>
              </a:rPr>
              <a:t>Shows the currently signed-in user</a:t>
            </a:r>
          </a:p>
          <a:p>
            <a:pPr>
              <a:lnSpc>
                <a:spcPct val="105000"/>
              </a:lnSpc>
              <a:spcAft>
                <a:spcPts val="1100"/>
              </a:spcAft>
            </a:pPr>
            <a:r>
              <a:rPr sz="1550" b="1">
                <a:solidFill>
                  <a:srgbClr val="0274DF"/>
                </a:solidFill>
                <a:latin typeface="Segoe UI"/>
              </a:rPr>
              <a:t>▪  </a:t>
            </a:r>
            <a:r>
              <a:rPr sz="1500" b="0">
                <a:solidFill>
                  <a:srgbClr val="12233D"/>
                </a:solidFill>
                <a:latin typeface="Segoe UI"/>
              </a:rPr>
              <a:t>Demo role switching for testing</a:t>
            </a:r>
          </a:p>
          <a:p>
            <a:pPr>
              <a:lnSpc>
                <a:spcPct val="105000"/>
              </a:lnSpc>
              <a:spcAft>
                <a:spcPts val="1100"/>
              </a:spcAft>
            </a:pPr>
            <a:r>
              <a:rPr sz="1550" b="1">
                <a:solidFill>
                  <a:srgbClr val="0274DF"/>
                </a:solidFill>
                <a:latin typeface="Segoe UI"/>
              </a:rPr>
              <a:t>▪  </a:t>
            </a:r>
            <a:r>
              <a:rPr sz="1500" b="0">
                <a:solidFill>
                  <a:srgbClr val="12233D"/>
                </a:solidFill>
                <a:latin typeface="Segoe UI"/>
              </a:rPr>
              <a:t>Admin only</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SCREEN 17</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Profile</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6656" y="1435608"/>
            <a:ext cx="2377201" cy="491032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7-profile.png"/>
          <p:cNvPicPr>
            <a:picLocks noChangeAspect="1"/>
          </p:cNvPicPr>
          <p:nvPr/>
        </p:nvPicPr>
        <p:blipFill>
          <a:blip r:embed="rId3"/>
          <a:stretch>
            <a:fillRect/>
          </a:stretch>
        </p:blipFill>
        <p:spPr>
          <a:xfrm>
            <a:off x="777240" y="1536192"/>
            <a:ext cx="2176034" cy="4709160"/>
          </a:xfrm>
          <a:prstGeom prst="rect">
            <a:avLst/>
          </a:prstGeom>
        </p:spPr>
      </p:pic>
      <p:sp>
        <p:nvSpPr>
          <p:cNvPr id="9" name="TextBox 8"/>
          <p:cNvSpPr txBox="1"/>
          <p:nvPr/>
        </p:nvSpPr>
        <p:spPr>
          <a:xfrm>
            <a:off x="3593353" y="1645920"/>
            <a:ext cx="7958261" cy="4572000"/>
          </a:xfrm>
          <a:prstGeom prst="rect">
            <a:avLst/>
          </a:prstGeom>
          <a:noFill/>
        </p:spPr>
        <p:txBody>
          <a:bodyPr wrap="square" lIns="0" tIns="0" rIns="0" bIns="0">
            <a:spAutoFit/>
          </a:bodyPr>
          <a:lstStyle/>
          <a:p>
            <a:pPr>
              <a:lnSpc>
                <a:spcPct val="105000"/>
              </a:lnSpc>
              <a:spcAft>
                <a:spcPts val="1100"/>
              </a:spcAft>
            </a:pPr>
            <a:r>
              <a:rPr sz="1550" b="1">
                <a:solidFill>
                  <a:srgbClr val="0274DF"/>
                </a:solidFill>
                <a:latin typeface="Segoe UI"/>
              </a:rPr>
              <a:t>▪  </a:t>
            </a:r>
            <a:r>
              <a:rPr sz="1550" b="1">
                <a:solidFill>
                  <a:srgbClr val="0B1F3A"/>
                </a:solidFill>
                <a:latin typeface="Segoe UI"/>
              </a:rPr>
              <a:t>View the signed-in user's account details</a:t>
            </a:r>
          </a:p>
          <a:p>
            <a:pPr>
              <a:lnSpc>
                <a:spcPct val="105000"/>
              </a:lnSpc>
              <a:spcAft>
                <a:spcPts val="1100"/>
              </a:spcAft>
            </a:pPr>
            <a:r>
              <a:rPr sz="1550" b="1">
                <a:solidFill>
                  <a:srgbClr val="0274DF"/>
                </a:solidFill>
                <a:latin typeface="Segoe UI"/>
              </a:rPr>
              <a:t>▪  </a:t>
            </a:r>
            <a:r>
              <a:rPr sz="1500" b="0">
                <a:solidFill>
                  <a:srgbClr val="12233D"/>
                </a:solidFill>
                <a:latin typeface="Segoe UI"/>
              </a:rPr>
              <a:t>Edit mode to update the profile</a:t>
            </a:r>
          </a:p>
          <a:p>
            <a:pPr>
              <a:lnSpc>
                <a:spcPct val="105000"/>
              </a:lnSpc>
              <a:spcAft>
                <a:spcPts val="1100"/>
              </a:spcAft>
            </a:pPr>
            <a:r>
              <a:rPr sz="1550" b="1">
                <a:solidFill>
                  <a:srgbClr val="0274DF"/>
                </a:solidFill>
                <a:latin typeface="Segoe UI"/>
              </a:rPr>
              <a:t>▪  </a:t>
            </a:r>
            <a:r>
              <a:rPr sz="1500" b="0">
                <a:solidFill>
                  <a:srgbClr val="12233D"/>
                </a:solidFill>
                <a:latin typeface="Segoe UI"/>
              </a:rPr>
              <a:t>Role and email displayed</a:t>
            </a:r>
          </a:p>
          <a:p>
            <a:pPr>
              <a:lnSpc>
                <a:spcPct val="105000"/>
              </a:lnSpc>
              <a:spcAft>
                <a:spcPts val="1100"/>
              </a:spcAft>
            </a:pPr>
            <a:r>
              <a:rPr sz="1550" b="1">
                <a:solidFill>
                  <a:srgbClr val="0274DF"/>
                </a:solidFill>
                <a:latin typeface="Segoe UI"/>
              </a:rPr>
              <a:t>▪  </a:t>
            </a:r>
            <a:r>
              <a:rPr sz="1500" b="0">
                <a:solidFill>
                  <a:srgbClr val="12233D"/>
                </a:solidFill>
                <a:latin typeface="Segoe UI"/>
              </a:rPr>
              <a:t>Log Out button (destructive styling)</a:t>
            </a:r>
          </a:p>
          <a:p>
            <a:pPr>
              <a:lnSpc>
                <a:spcPct val="105000"/>
              </a:lnSpc>
              <a:spcAft>
                <a:spcPts val="1100"/>
              </a:spcAft>
            </a:pPr>
            <a:r>
              <a:rPr sz="1550" b="1">
                <a:solidFill>
                  <a:srgbClr val="0274DF"/>
                </a:solidFill>
                <a:latin typeface="Segoe UI"/>
              </a:rPr>
              <a:t>▪  </a:t>
            </a:r>
            <a:r>
              <a:rPr sz="1500" b="0">
                <a:solidFill>
                  <a:srgbClr val="12233D"/>
                </a:solidFill>
                <a:latin typeface="Segoe UI"/>
              </a:rPr>
              <a:t>Log Out returns to the Login screen</a:t>
            </a:r>
          </a:p>
        </p:txBody>
      </p:sp>
      <p:sp>
        <p:nvSpPr>
          <p:cNvPr id="10" name="TextBox 9"/>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1" name="TextBox 10"/>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HOW IT IS BUILT</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System Architecture</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Technology Stack</a:t>
            </a:r>
          </a:p>
        </p:txBody>
      </p:sp>
      <p:sp>
        <p:nvSpPr>
          <p:cNvPr id="10" name="TextBox 9"/>
          <p:cNvSpPr txBox="1"/>
          <p:nvPr/>
        </p:nvSpPr>
        <p:spPr>
          <a:xfrm>
            <a:off x="932688"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Expo SDK 57 · React Native 0.86</a:t>
            </a:r>
          </a:p>
          <a:p>
            <a:pPr>
              <a:lnSpc>
                <a:spcPct val="105000"/>
              </a:lnSpc>
              <a:spcAft>
                <a:spcPts val="900"/>
              </a:spcAft>
            </a:pPr>
            <a:r>
              <a:rPr sz="1350" b="1">
                <a:solidFill>
                  <a:srgbClr val="0274DF"/>
                </a:solidFill>
                <a:latin typeface="Segoe UI"/>
              </a:rPr>
              <a:t>▪  </a:t>
            </a:r>
            <a:r>
              <a:rPr sz="1350" b="0">
                <a:solidFill>
                  <a:srgbClr val="12233D"/>
                </a:solidFill>
                <a:latin typeface="Segoe UI"/>
              </a:rPr>
              <a:t>React 19 · TypeScript (strict)</a:t>
            </a:r>
          </a:p>
          <a:p>
            <a:pPr>
              <a:lnSpc>
                <a:spcPct val="105000"/>
              </a:lnSpc>
              <a:spcAft>
                <a:spcPts val="900"/>
              </a:spcAft>
            </a:pPr>
            <a:r>
              <a:rPr sz="1350" b="1">
                <a:solidFill>
                  <a:srgbClr val="0274DF"/>
                </a:solidFill>
                <a:latin typeface="Segoe UI"/>
              </a:rPr>
              <a:t>▪  </a:t>
            </a:r>
            <a:r>
              <a:rPr sz="1350" b="0">
                <a:solidFill>
                  <a:srgbClr val="12233D"/>
                </a:solidFill>
                <a:latin typeface="Segoe UI"/>
              </a:rPr>
              <a:t>Expo Router — file-based routing</a:t>
            </a:r>
          </a:p>
          <a:p>
            <a:pPr>
              <a:lnSpc>
                <a:spcPct val="105000"/>
              </a:lnSpc>
              <a:spcAft>
                <a:spcPts val="900"/>
              </a:spcAft>
            </a:pPr>
            <a:r>
              <a:rPr sz="1350" b="1">
                <a:solidFill>
                  <a:srgbClr val="0274DF"/>
                </a:solidFill>
                <a:latin typeface="Segoe UI"/>
              </a:rPr>
              <a:t>▪  </a:t>
            </a:r>
            <a:r>
              <a:rPr sz="1350" b="0">
                <a:solidFill>
                  <a:srgbClr val="12233D"/>
                </a:solidFill>
                <a:latin typeface="Segoe UI"/>
              </a:rPr>
              <a:t>React Native Reanimated 4</a:t>
            </a:r>
          </a:p>
          <a:p>
            <a:pPr>
              <a:lnSpc>
                <a:spcPct val="105000"/>
              </a:lnSpc>
              <a:spcAft>
                <a:spcPts val="900"/>
              </a:spcAft>
            </a:pPr>
            <a:r>
              <a:rPr sz="1350" b="1">
                <a:solidFill>
                  <a:srgbClr val="0274DF"/>
                </a:solidFill>
                <a:latin typeface="Segoe UI"/>
              </a:rPr>
              <a:t>▪  </a:t>
            </a:r>
            <a:r>
              <a:rPr sz="1350" b="0">
                <a:solidFill>
                  <a:srgbClr val="12233D"/>
                </a:solidFill>
                <a:latin typeface="Segoe UI"/>
              </a:rPr>
              <a:t>Expo Linear Gradient · Blur</a:t>
            </a:r>
          </a:p>
          <a:p>
            <a:pPr>
              <a:lnSpc>
                <a:spcPct val="105000"/>
              </a:lnSpc>
              <a:spcAft>
                <a:spcPts val="900"/>
              </a:spcAft>
            </a:pPr>
            <a:r>
              <a:rPr sz="1350" b="1">
                <a:solidFill>
                  <a:srgbClr val="0274DF"/>
                </a:solidFill>
                <a:latin typeface="Segoe UI"/>
              </a:rPr>
              <a:t>▪  </a:t>
            </a:r>
            <a:r>
              <a:rPr sz="1350" b="0">
                <a:solidFill>
                  <a:srgbClr val="12233D"/>
                </a:solidFill>
                <a:latin typeface="Segoe UI"/>
              </a:rPr>
              <a:t>Runs on Android, iOS, and Web</a:t>
            </a:r>
          </a:p>
        </p:txBody>
      </p:sp>
      <p:sp>
        <p:nvSpPr>
          <p:cNvPr id="11" name="Rounded Rectangle 10"/>
          <p:cNvSpPr/>
          <p:nvPr/>
        </p:nvSpPr>
        <p:spPr>
          <a:xfrm>
            <a:off x="4383938"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3938"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76546"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State Management</a:t>
            </a:r>
          </a:p>
        </p:txBody>
      </p:sp>
      <p:sp>
        <p:nvSpPr>
          <p:cNvPr id="14" name="TextBox 13"/>
          <p:cNvSpPr txBox="1"/>
          <p:nvPr/>
        </p:nvSpPr>
        <p:spPr>
          <a:xfrm>
            <a:off x="4676546"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React Context + hooks</a:t>
            </a:r>
          </a:p>
          <a:p>
            <a:pPr>
              <a:lnSpc>
                <a:spcPct val="105000"/>
              </a:lnSpc>
              <a:spcAft>
                <a:spcPts val="900"/>
              </a:spcAft>
            </a:pPr>
            <a:r>
              <a:rPr sz="1350" b="1">
                <a:solidFill>
                  <a:srgbClr val="0274DF"/>
                </a:solidFill>
                <a:latin typeface="Segoe UI"/>
              </a:rPr>
              <a:t>▪  </a:t>
            </a:r>
            <a:r>
              <a:rPr sz="1350" b="0">
                <a:solidFill>
                  <a:srgbClr val="12233D"/>
                </a:solidFill>
                <a:latin typeface="Segoe UI"/>
              </a:rPr>
              <a:t>DemoSessionContext — role session</a:t>
            </a:r>
          </a:p>
          <a:p>
            <a:pPr>
              <a:lnSpc>
                <a:spcPct val="105000"/>
              </a:lnSpc>
              <a:spcAft>
                <a:spcPts val="900"/>
              </a:spcAft>
            </a:pPr>
            <a:r>
              <a:rPr sz="1350" b="1">
                <a:solidFill>
                  <a:srgbClr val="0274DF"/>
                </a:solidFill>
                <a:latin typeface="Segoe UI"/>
              </a:rPr>
              <a:t>▪  </a:t>
            </a:r>
            <a:r>
              <a:rPr sz="1350" b="0">
                <a:solidFill>
                  <a:srgbClr val="12233D"/>
                </a:solidFill>
                <a:latin typeface="Segoe UI"/>
              </a:rPr>
              <a:t>EventsProvider — event store</a:t>
            </a:r>
          </a:p>
          <a:p>
            <a:pPr>
              <a:lnSpc>
                <a:spcPct val="105000"/>
              </a:lnSpc>
              <a:spcAft>
                <a:spcPts val="900"/>
              </a:spcAft>
            </a:pPr>
            <a:r>
              <a:rPr sz="1350" b="1">
                <a:solidFill>
                  <a:srgbClr val="0274DF"/>
                </a:solidFill>
                <a:latin typeface="Segoe UI"/>
              </a:rPr>
              <a:t>▪  </a:t>
            </a:r>
            <a:r>
              <a:rPr sz="1350" b="0">
                <a:solidFill>
                  <a:srgbClr val="12233D"/>
                </a:solidFill>
                <a:latin typeface="Segoe UI"/>
              </a:rPr>
              <a:t>RegistrationsProvider — registrations</a:t>
            </a:r>
          </a:p>
          <a:p>
            <a:pPr>
              <a:lnSpc>
                <a:spcPct val="105000"/>
              </a:lnSpc>
              <a:spcAft>
                <a:spcPts val="900"/>
              </a:spcAft>
            </a:pPr>
            <a:r>
              <a:rPr sz="1350" b="1">
                <a:solidFill>
                  <a:srgbClr val="0274DF"/>
                </a:solidFill>
                <a:latin typeface="Segoe UI"/>
              </a:rPr>
              <a:t>▪  </a:t>
            </a:r>
            <a:r>
              <a:rPr sz="1350" b="0">
                <a:solidFill>
                  <a:srgbClr val="12233D"/>
                </a:solidFill>
                <a:latin typeface="Segoe UI"/>
              </a:rPr>
              <a:t>In-memory only (no backend)</a:t>
            </a:r>
          </a:p>
          <a:p>
            <a:pPr>
              <a:lnSpc>
                <a:spcPct val="105000"/>
              </a:lnSpc>
              <a:spcAft>
                <a:spcPts val="900"/>
              </a:spcAft>
            </a:pPr>
            <a:r>
              <a:rPr sz="1350" b="1">
                <a:solidFill>
                  <a:srgbClr val="0274DF"/>
                </a:solidFill>
                <a:latin typeface="Segoe UI"/>
              </a:rPr>
              <a:t>▪  </a:t>
            </a:r>
            <a:r>
              <a:rPr sz="1350" b="0">
                <a:solidFill>
                  <a:srgbClr val="12233D"/>
                </a:solidFill>
                <a:latin typeface="Segoe UI"/>
              </a:rPr>
              <a:t>Resets on refresh, by design</a:t>
            </a:r>
          </a:p>
        </p:txBody>
      </p:sp>
      <p:sp>
        <p:nvSpPr>
          <p:cNvPr id="15" name="Rounded Rectangle 14"/>
          <p:cNvSpPr/>
          <p:nvPr/>
        </p:nvSpPr>
        <p:spPr>
          <a:xfrm>
            <a:off x="8127796"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27796"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20404"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Structure</a:t>
            </a:r>
          </a:p>
        </p:txBody>
      </p:sp>
      <p:sp>
        <p:nvSpPr>
          <p:cNvPr id="18" name="TextBox 17"/>
          <p:cNvSpPr txBox="1"/>
          <p:nvPr/>
        </p:nvSpPr>
        <p:spPr>
          <a:xfrm>
            <a:off x="8420404"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src/app/ — 17 screens (routes)</a:t>
            </a:r>
          </a:p>
          <a:p>
            <a:pPr>
              <a:lnSpc>
                <a:spcPct val="105000"/>
              </a:lnSpc>
              <a:spcAft>
                <a:spcPts val="900"/>
              </a:spcAft>
            </a:pPr>
            <a:r>
              <a:rPr sz="1350" b="1">
                <a:solidFill>
                  <a:srgbClr val="0274DF"/>
                </a:solidFill>
                <a:latin typeface="Segoe UI"/>
              </a:rPr>
              <a:t>▪  </a:t>
            </a:r>
            <a:r>
              <a:rPr sz="1350" b="0">
                <a:solidFill>
                  <a:srgbClr val="12233D"/>
                </a:solidFill>
                <a:latin typeface="Segoe UI"/>
              </a:rPr>
              <a:t>src/components/ — 9 shared UI parts</a:t>
            </a:r>
          </a:p>
          <a:p>
            <a:pPr>
              <a:lnSpc>
                <a:spcPct val="105000"/>
              </a:lnSpc>
              <a:spcAft>
                <a:spcPts val="900"/>
              </a:spcAft>
            </a:pPr>
            <a:r>
              <a:rPr sz="1350" b="1">
                <a:solidFill>
                  <a:srgbClr val="0274DF"/>
                </a:solidFill>
                <a:latin typeface="Segoe UI"/>
              </a:rPr>
              <a:t>▪  </a:t>
            </a:r>
            <a:r>
              <a:rPr sz="1350" b="0">
                <a:solidFill>
                  <a:srgbClr val="12233D"/>
                </a:solidFill>
                <a:latin typeface="Segoe UI"/>
              </a:rPr>
              <a:t>src/context/ — 3 providers</a:t>
            </a:r>
          </a:p>
          <a:p>
            <a:pPr>
              <a:lnSpc>
                <a:spcPct val="105000"/>
              </a:lnSpc>
              <a:spcAft>
                <a:spcPts val="900"/>
              </a:spcAft>
            </a:pPr>
            <a:r>
              <a:rPr sz="1350" b="1">
                <a:solidFill>
                  <a:srgbClr val="0274DF"/>
                </a:solidFill>
                <a:latin typeface="Segoe UI"/>
              </a:rPr>
              <a:t>▪  </a:t>
            </a:r>
            <a:r>
              <a:rPr sz="1350" b="0">
                <a:solidFill>
                  <a:srgbClr val="12233D"/>
                </a:solidFill>
                <a:latin typeface="Segoe UI"/>
              </a:rPr>
              <a:t>src/constants/ — theme + permissions</a:t>
            </a:r>
          </a:p>
          <a:p>
            <a:pPr>
              <a:lnSpc>
                <a:spcPct val="105000"/>
              </a:lnSpc>
              <a:spcAft>
                <a:spcPts val="900"/>
              </a:spcAft>
            </a:pPr>
            <a:r>
              <a:rPr sz="1350" b="1">
                <a:solidFill>
                  <a:srgbClr val="0274DF"/>
                </a:solidFill>
                <a:latin typeface="Segoe UI"/>
              </a:rPr>
              <a:t>▪  </a:t>
            </a:r>
            <a:r>
              <a:rPr sz="1350" b="0">
                <a:solidFill>
                  <a:srgbClr val="12233D"/>
                </a:solidFill>
                <a:latin typeface="Segoe UI"/>
              </a:rPr>
              <a:t>src/hooks/ — responsive + route guard</a:t>
            </a:r>
          </a:p>
          <a:p>
            <a:pPr>
              <a:lnSpc>
                <a:spcPct val="105000"/>
              </a:lnSpc>
              <a:spcAft>
                <a:spcPts val="900"/>
              </a:spcAft>
            </a:pPr>
            <a:r>
              <a:rPr sz="1350" b="1">
                <a:solidFill>
                  <a:srgbClr val="0274DF"/>
                </a:solidFill>
                <a:latin typeface="Segoe UI"/>
              </a:rPr>
              <a:t>▪  </a:t>
            </a:r>
            <a:r>
              <a:rPr sz="1350" b="0">
                <a:solidFill>
                  <a:srgbClr val="12233D"/>
                </a:solidFill>
                <a:latin typeface="Segoe UI"/>
              </a:rPr>
              <a:t>src/styles/ — separated styles</a:t>
            </a:r>
          </a:p>
        </p:txBody>
      </p:sp>
      <p:sp>
        <p:nvSpPr>
          <p:cNvPr id="19" name="TextBox 18"/>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20" name="TextBox 19"/>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VERIFICATION</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Code Quality &amp; Project Organization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640080" y="1609344"/>
          <a:ext cx="10911534" cy="3456432"/>
        </p:xfrm>
        <a:graphic>
          <a:graphicData uri="http://schemas.openxmlformats.org/drawingml/2006/table">
            <a:tbl>
              <a:tblPr firstRow="1">
                <a:tableStyleId>{5C22544A-7EE6-4342-B048-85BDC9FD1C3A}</a:tableStyleId>
              </a:tblPr>
              <a:tblGrid>
                <a:gridCol w="4047827">
                  <a:extLst>
                    <a:ext uri="{9D8B030D-6E8A-4147-A177-3AD203B41FA5}">
                      <a16:colId xmlns:a16="http://schemas.microsoft.com/office/drawing/2014/main" val="20000"/>
                    </a:ext>
                  </a:extLst>
                </a:gridCol>
                <a:gridCol w="4575805">
                  <a:extLst>
                    <a:ext uri="{9D8B030D-6E8A-4147-A177-3AD203B41FA5}">
                      <a16:colId xmlns:a16="http://schemas.microsoft.com/office/drawing/2014/main" val="20001"/>
                    </a:ext>
                  </a:extLst>
                </a:gridCol>
                <a:gridCol w="2287902">
                  <a:extLst>
                    <a:ext uri="{9D8B030D-6E8A-4147-A177-3AD203B41FA5}">
                      <a16:colId xmlns:a16="http://schemas.microsoft.com/office/drawing/2014/main" val="20002"/>
                    </a:ext>
                  </a:extLst>
                </a:gridCol>
              </a:tblGrid>
              <a:tr h="384048">
                <a:tc>
                  <a:txBody>
                    <a:bodyPr/>
                    <a:lstStyle/>
                    <a:p>
                      <a:pPr algn="l"/>
                      <a:r>
                        <a:rPr sz="1300" b="1">
                          <a:solidFill>
                            <a:srgbClr val="FFFFFF"/>
                          </a:solidFill>
                          <a:latin typeface="Segoe UI"/>
                        </a:rPr>
                        <a:t>Check</a:t>
                      </a:r>
                    </a:p>
                  </a:txBody>
                  <a:tcPr marL="109728" marR="73152" anchor="ctr">
                    <a:solidFill>
                      <a:srgbClr val="0B1F3A"/>
                    </a:solidFill>
                  </a:tcPr>
                </a:tc>
                <a:tc>
                  <a:txBody>
                    <a:bodyPr/>
                    <a:lstStyle/>
                    <a:p>
                      <a:pPr algn="l"/>
                      <a:r>
                        <a:rPr sz="1300" b="1">
                          <a:solidFill>
                            <a:srgbClr val="FFFFFF"/>
                          </a:solidFill>
                          <a:latin typeface="Segoe UI"/>
                        </a:rPr>
                        <a:t>Command / Detail</a:t>
                      </a:r>
                    </a:p>
                  </a:txBody>
                  <a:tcPr marL="109728" marR="73152" anchor="ctr">
                    <a:solidFill>
                      <a:srgbClr val="0B1F3A"/>
                    </a:solidFill>
                  </a:tcPr>
                </a:tc>
                <a:tc>
                  <a:txBody>
                    <a:bodyPr/>
                    <a:lstStyle/>
                    <a:p>
                      <a:pPr algn="l"/>
                      <a:r>
                        <a:rPr sz="1300" b="1">
                          <a:solidFill>
                            <a:srgbClr val="FFFFFF"/>
                          </a:solidFill>
                          <a:latin typeface="Segoe UI"/>
                        </a:rPr>
                        <a:t>Result</a:t>
                      </a:r>
                    </a:p>
                  </a:txBody>
                  <a:tcPr marL="109728" marR="73152" anchor="ctr">
                    <a:solidFill>
                      <a:srgbClr val="0B1F3A"/>
                    </a:solidFill>
                  </a:tcPr>
                </a:tc>
                <a:extLst>
                  <a:ext uri="{0D108BD9-81ED-4DB2-BD59-A6C34878D82A}">
                    <a16:rowId xmlns:a16="http://schemas.microsoft.com/office/drawing/2014/main" val="10000"/>
                  </a:ext>
                </a:extLst>
              </a:tr>
              <a:tr h="384048">
                <a:tc>
                  <a:txBody>
                    <a:bodyPr/>
                    <a:lstStyle/>
                    <a:p>
                      <a:pPr algn="l"/>
                      <a:r>
                        <a:rPr sz="1300" b="0">
                          <a:solidFill>
                            <a:srgbClr val="12233D"/>
                          </a:solidFill>
                          <a:latin typeface="Segoe UI"/>
                        </a:rPr>
                        <a:t>TypeScript type check</a:t>
                      </a:r>
                    </a:p>
                  </a:txBody>
                  <a:tcPr marL="109728" marR="73152" anchor="ctr">
                    <a:solidFill>
                      <a:srgbClr val="FFFFFF"/>
                    </a:solidFill>
                  </a:tcPr>
                </a:tc>
                <a:tc>
                  <a:txBody>
                    <a:bodyPr/>
                    <a:lstStyle/>
                    <a:p>
                      <a:pPr algn="l"/>
                      <a:r>
                        <a:rPr sz="1300" b="0">
                          <a:solidFill>
                            <a:srgbClr val="12233D"/>
                          </a:solidFill>
                          <a:latin typeface="Segoe UI"/>
                        </a:rPr>
                        <a:t>npx tsc --noEmit</a:t>
                      </a:r>
                    </a:p>
                  </a:txBody>
                  <a:tcPr marL="109728" marR="73152" anchor="ctr">
                    <a:solidFill>
                      <a:srgbClr val="FFFFFF"/>
                    </a:solidFill>
                  </a:tcPr>
                </a:tc>
                <a:tc>
                  <a:txBody>
                    <a:bodyPr/>
                    <a:lstStyle/>
                    <a:p>
                      <a:pPr algn="l"/>
                      <a:r>
                        <a:rPr sz="1300" b="0">
                          <a:solidFill>
                            <a:srgbClr val="12233D"/>
                          </a:solidFill>
                          <a:latin typeface="Segoe UI"/>
                        </a:rPr>
                        <a:t>Pass</a:t>
                      </a:r>
                    </a:p>
                  </a:txBody>
                  <a:tcPr marL="109728" marR="73152" anchor="ctr">
                    <a:solidFill>
                      <a:srgbClr val="FFFFFF"/>
                    </a:solidFill>
                  </a:tcPr>
                </a:tc>
                <a:extLst>
                  <a:ext uri="{0D108BD9-81ED-4DB2-BD59-A6C34878D82A}">
                    <a16:rowId xmlns:a16="http://schemas.microsoft.com/office/drawing/2014/main" val="10001"/>
                  </a:ext>
                </a:extLst>
              </a:tr>
              <a:tr h="384048">
                <a:tc>
                  <a:txBody>
                    <a:bodyPr/>
                    <a:lstStyle/>
                    <a:p>
                      <a:pPr algn="l"/>
                      <a:r>
                        <a:rPr sz="1300" b="0">
                          <a:solidFill>
                            <a:srgbClr val="12233D"/>
                          </a:solidFill>
                          <a:latin typeface="Segoe UI"/>
                        </a:rPr>
                        <a:t>Linting</a:t>
                      </a:r>
                    </a:p>
                  </a:txBody>
                  <a:tcPr marL="109728" marR="73152" anchor="ctr">
                    <a:solidFill>
                      <a:srgbClr val="F6F9FD"/>
                    </a:solidFill>
                  </a:tcPr>
                </a:tc>
                <a:tc>
                  <a:txBody>
                    <a:bodyPr/>
                    <a:lstStyle/>
                    <a:p>
                      <a:pPr algn="l"/>
                      <a:r>
                        <a:rPr sz="1300" b="0">
                          <a:solidFill>
                            <a:srgbClr val="12233D"/>
                          </a:solidFill>
                          <a:latin typeface="Segoe UI"/>
                        </a:rPr>
                        <a:t>npx expo lint</a:t>
                      </a:r>
                    </a:p>
                  </a:txBody>
                  <a:tcPr marL="109728" marR="73152" anchor="ctr">
                    <a:solidFill>
                      <a:srgbClr val="F6F9FD"/>
                    </a:solidFill>
                  </a:tcPr>
                </a:tc>
                <a:tc>
                  <a:txBody>
                    <a:bodyPr/>
                    <a:lstStyle/>
                    <a:p>
                      <a:pPr algn="l"/>
                      <a:r>
                        <a:rPr sz="1300" b="0">
                          <a:solidFill>
                            <a:srgbClr val="12233D"/>
                          </a:solidFill>
                          <a:latin typeface="Segoe UI"/>
                        </a:rPr>
                        <a:t>Pass</a:t>
                      </a:r>
                    </a:p>
                  </a:txBody>
                  <a:tcPr marL="109728" marR="73152" anchor="ctr">
                    <a:solidFill>
                      <a:srgbClr val="F6F9FD"/>
                    </a:solidFill>
                  </a:tcPr>
                </a:tc>
                <a:extLst>
                  <a:ext uri="{0D108BD9-81ED-4DB2-BD59-A6C34878D82A}">
                    <a16:rowId xmlns:a16="http://schemas.microsoft.com/office/drawing/2014/main" val="10002"/>
                  </a:ext>
                </a:extLst>
              </a:tr>
              <a:tr h="384048">
                <a:tc>
                  <a:txBody>
                    <a:bodyPr/>
                    <a:lstStyle/>
                    <a:p>
                      <a:pPr algn="l"/>
                      <a:r>
                        <a:rPr sz="1300" b="0">
                          <a:solidFill>
                            <a:srgbClr val="12233D"/>
                          </a:solidFill>
                          <a:latin typeface="Segoe UI"/>
                        </a:rPr>
                        <a:t>Screens (routes)</a:t>
                      </a:r>
                    </a:p>
                  </a:txBody>
                  <a:tcPr marL="109728" marR="73152" anchor="ctr">
                    <a:solidFill>
                      <a:srgbClr val="FFFFFF"/>
                    </a:solidFill>
                  </a:tcPr>
                </a:tc>
                <a:tc>
                  <a:txBody>
                    <a:bodyPr/>
                    <a:lstStyle/>
                    <a:p>
                      <a:pPr algn="l"/>
                      <a:r>
                        <a:rPr sz="1300" b="0">
                          <a:solidFill>
                            <a:srgbClr val="12233D"/>
                          </a:solidFill>
                          <a:latin typeface="Segoe UI"/>
                        </a:rPr>
                        <a:t>src/app/*.tsx</a:t>
                      </a:r>
                    </a:p>
                  </a:txBody>
                  <a:tcPr marL="109728" marR="73152" anchor="ctr">
                    <a:solidFill>
                      <a:srgbClr val="FFFFFF"/>
                    </a:solidFill>
                  </a:tcPr>
                </a:tc>
                <a:tc>
                  <a:txBody>
                    <a:bodyPr/>
                    <a:lstStyle/>
                    <a:p>
                      <a:pPr algn="l"/>
                      <a:r>
                        <a:rPr sz="1300" b="0">
                          <a:solidFill>
                            <a:srgbClr val="12233D"/>
                          </a:solidFill>
                          <a:latin typeface="Segoe UI"/>
                        </a:rPr>
                        <a:t>17 screens</a:t>
                      </a:r>
                    </a:p>
                  </a:txBody>
                  <a:tcPr marL="109728" marR="73152" anchor="ctr">
                    <a:solidFill>
                      <a:srgbClr val="FFFFFF"/>
                    </a:solidFill>
                  </a:tcPr>
                </a:tc>
                <a:extLst>
                  <a:ext uri="{0D108BD9-81ED-4DB2-BD59-A6C34878D82A}">
                    <a16:rowId xmlns:a16="http://schemas.microsoft.com/office/drawing/2014/main" val="10003"/>
                  </a:ext>
                </a:extLst>
              </a:tr>
              <a:tr h="384048">
                <a:tc>
                  <a:txBody>
                    <a:bodyPr/>
                    <a:lstStyle/>
                    <a:p>
                      <a:pPr algn="l"/>
                      <a:r>
                        <a:rPr sz="1300" b="0">
                          <a:solidFill>
                            <a:srgbClr val="12233D"/>
                          </a:solidFill>
                          <a:latin typeface="Segoe UI"/>
                        </a:rPr>
                        <a:t>Shared components</a:t>
                      </a:r>
                    </a:p>
                  </a:txBody>
                  <a:tcPr marL="109728" marR="73152" anchor="ctr">
                    <a:solidFill>
                      <a:srgbClr val="F6F9FD"/>
                    </a:solidFill>
                  </a:tcPr>
                </a:tc>
                <a:tc>
                  <a:txBody>
                    <a:bodyPr/>
                    <a:lstStyle/>
                    <a:p>
                      <a:pPr algn="l"/>
                      <a:r>
                        <a:rPr sz="1300" b="0">
                          <a:solidFill>
                            <a:srgbClr val="12233D"/>
                          </a:solidFill>
                          <a:latin typeface="Segoe UI"/>
                        </a:rPr>
                        <a:t>src/components/*.tsx</a:t>
                      </a:r>
                    </a:p>
                  </a:txBody>
                  <a:tcPr marL="109728" marR="73152" anchor="ctr">
                    <a:solidFill>
                      <a:srgbClr val="F6F9FD"/>
                    </a:solidFill>
                  </a:tcPr>
                </a:tc>
                <a:tc>
                  <a:txBody>
                    <a:bodyPr/>
                    <a:lstStyle/>
                    <a:p>
                      <a:pPr algn="l"/>
                      <a:r>
                        <a:rPr sz="1300" b="0">
                          <a:solidFill>
                            <a:srgbClr val="12233D"/>
                          </a:solidFill>
                          <a:latin typeface="Segoe UI"/>
                        </a:rPr>
                        <a:t>9 components</a:t>
                      </a:r>
                    </a:p>
                  </a:txBody>
                  <a:tcPr marL="109728" marR="73152" anchor="ctr">
                    <a:solidFill>
                      <a:srgbClr val="F6F9FD"/>
                    </a:solidFill>
                  </a:tcPr>
                </a:tc>
                <a:extLst>
                  <a:ext uri="{0D108BD9-81ED-4DB2-BD59-A6C34878D82A}">
                    <a16:rowId xmlns:a16="http://schemas.microsoft.com/office/drawing/2014/main" val="10004"/>
                  </a:ext>
                </a:extLst>
              </a:tr>
              <a:tr h="384048">
                <a:tc>
                  <a:txBody>
                    <a:bodyPr/>
                    <a:lstStyle/>
                    <a:p>
                      <a:pPr algn="l"/>
                      <a:r>
                        <a:rPr sz="1300" b="0">
                          <a:solidFill>
                            <a:srgbClr val="12233D"/>
                          </a:solidFill>
                          <a:latin typeface="Segoe UI"/>
                        </a:rPr>
                        <a:t>State providers</a:t>
                      </a:r>
                    </a:p>
                  </a:txBody>
                  <a:tcPr marL="109728" marR="73152" anchor="ctr">
                    <a:solidFill>
                      <a:srgbClr val="FFFFFF"/>
                    </a:solidFill>
                  </a:tcPr>
                </a:tc>
                <a:tc>
                  <a:txBody>
                    <a:bodyPr/>
                    <a:lstStyle/>
                    <a:p>
                      <a:pPr algn="l"/>
                      <a:r>
                        <a:rPr sz="1300" b="0">
                          <a:solidFill>
                            <a:srgbClr val="12233D"/>
                          </a:solidFill>
                          <a:latin typeface="Segoe UI"/>
                        </a:rPr>
                        <a:t>src/context/*.tsx</a:t>
                      </a:r>
                    </a:p>
                  </a:txBody>
                  <a:tcPr marL="109728" marR="73152" anchor="ctr">
                    <a:solidFill>
                      <a:srgbClr val="FFFFFF"/>
                    </a:solidFill>
                  </a:tcPr>
                </a:tc>
                <a:tc>
                  <a:txBody>
                    <a:bodyPr/>
                    <a:lstStyle/>
                    <a:p>
                      <a:pPr algn="l"/>
                      <a:r>
                        <a:rPr sz="1300" b="0">
                          <a:solidFill>
                            <a:srgbClr val="12233D"/>
                          </a:solidFill>
                          <a:latin typeface="Segoe UI"/>
                        </a:rPr>
                        <a:t>3 providers</a:t>
                      </a:r>
                    </a:p>
                  </a:txBody>
                  <a:tcPr marL="109728" marR="73152" anchor="ctr">
                    <a:solidFill>
                      <a:srgbClr val="FFFFFF"/>
                    </a:solidFill>
                  </a:tcPr>
                </a:tc>
                <a:extLst>
                  <a:ext uri="{0D108BD9-81ED-4DB2-BD59-A6C34878D82A}">
                    <a16:rowId xmlns:a16="http://schemas.microsoft.com/office/drawing/2014/main" val="10005"/>
                  </a:ext>
                </a:extLst>
              </a:tr>
              <a:tr h="384048">
                <a:tc>
                  <a:txBody>
                    <a:bodyPr/>
                    <a:lstStyle/>
                    <a:p>
                      <a:pPr algn="l"/>
                      <a:r>
                        <a:rPr sz="1300" b="0">
                          <a:solidFill>
                            <a:srgbClr val="12233D"/>
                          </a:solidFill>
                          <a:latin typeface="Segoe UI"/>
                        </a:rPr>
                        <a:t>Design tokens</a:t>
                      </a:r>
                    </a:p>
                  </a:txBody>
                  <a:tcPr marL="109728" marR="73152" anchor="ctr">
                    <a:solidFill>
                      <a:srgbClr val="F6F9FD"/>
                    </a:solidFill>
                  </a:tcPr>
                </a:tc>
                <a:tc>
                  <a:txBody>
                    <a:bodyPr/>
                    <a:lstStyle/>
                    <a:p>
                      <a:pPr algn="l"/>
                      <a:r>
                        <a:rPr sz="1300" b="0">
                          <a:solidFill>
                            <a:srgbClr val="12233D"/>
                          </a:solidFill>
                          <a:latin typeface="Segoe UI"/>
                        </a:rPr>
                        <a:t>src/constants/theme.ts</a:t>
                      </a:r>
                    </a:p>
                  </a:txBody>
                  <a:tcPr marL="109728" marR="73152" anchor="ctr">
                    <a:solidFill>
                      <a:srgbClr val="F6F9FD"/>
                    </a:solidFill>
                  </a:tcPr>
                </a:tc>
                <a:tc>
                  <a:txBody>
                    <a:bodyPr/>
                    <a:lstStyle/>
                    <a:p>
                      <a:pPr algn="l"/>
                      <a:r>
                        <a:rPr sz="1300" b="0">
                          <a:solidFill>
                            <a:srgbClr val="12233D"/>
                          </a:solidFill>
                          <a:latin typeface="Segoe UI"/>
                        </a:rPr>
                        <a:t>Single source</a:t>
                      </a:r>
                    </a:p>
                  </a:txBody>
                  <a:tcPr marL="109728" marR="73152" anchor="ctr">
                    <a:solidFill>
                      <a:srgbClr val="F6F9FD"/>
                    </a:solidFill>
                  </a:tcPr>
                </a:tc>
                <a:extLst>
                  <a:ext uri="{0D108BD9-81ED-4DB2-BD59-A6C34878D82A}">
                    <a16:rowId xmlns:a16="http://schemas.microsoft.com/office/drawing/2014/main" val="10006"/>
                  </a:ext>
                </a:extLst>
              </a:tr>
              <a:tr h="384048">
                <a:tc>
                  <a:txBody>
                    <a:bodyPr/>
                    <a:lstStyle/>
                    <a:p>
                      <a:pPr algn="l"/>
                      <a:r>
                        <a:rPr sz="1300" b="0">
                          <a:solidFill>
                            <a:srgbClr val="12233D"/>
                          </a:solidFill>
                          <a:latin typeface="Segoe UI"/>
                        </a:rPr>
                        <a:t>Permission matrix</a:t>
                      </a:r>
                    </a:p>
                  </a:txBody>
                  <a:tcPr marL="109728" marR="73152" anchor="ctr">
                    <a:solidFill>
                      <a:srgbClr val="FFFFFF"/>
                    </a:solidFill>
                  </a:tcPr>
                </a:tc>
                <a:tc>
                  <a:txBody>
                    <a:bodyPr/>
                    <a:lstStyle/>
                    <a:p>
                      <a:pPr algn="l"/>
                      <a:r>
                        <a:rPr sz="1300" b="0">
                          <a:solidFill>
                            <a:srgbClr val="12233D"/>
                          </a:solidFill>
                          <a:latin typeface="Segoe UI"/>
                        </a:rPr>
                        <a:t>src/constants/permissions.ts</a:t>
                      </a:r>
                    </a:p>
                  </a:txBody>
                  <a:tcPr marL="109728" marR="73152" anchor="ctr">
                    <a:solidFill>
                      <a:srgbClr val="FFFFFF"/>
                    </a:solidFill>
                  </a:tcPr>
                </a:tc>
                <a:tc>
                  <a:txBody>
                    <a:bodyPr/>
                    <a:lstStyle/>
                    <a:p>
                      <a:pPr algn="l"/>
                      <a:r>
                        <a:rPr sz="1300" b="0">
                          <a:solidFill>
                            <a:srgbClr val="12233D"/>
                          </a:solidFill>
                          <a:latin typeface="Segoe UI"/>
                        </a:rPr>
                        <a:t>Code-enforced</a:t>
                      </a:r>
                    </a:p>
                  </a:txBody>
                  <a:tcPr marL="109728" marR="73152" anchor="ctr">
                    <a:solidFill>
                      <a:srgbClr val="FFFFFF"/>
                    </a:solidFill>
                  </a:tcPr>
                </a:tc>
                <a:extLst>
                  <a:ext uri="{0D108BD9-81ED-4DB2-BD59-A6C34878D82A}">
                    <a16:rowId xmlns:a16="http://schemas.microsoft.com/office/drawing/2014/main" val="10007"/>
                  </a:ext>
                </a:extLst>
              </a:tr>
              <a:tr h="384048">
                <a:tc>
                  <a:txBody>
                    <a:bodyPr/>
                    <a:lstStyle/>
                    <a:p>
                      <a:pPr algn="l"/>
                      <a:r>
                        <a:rPr sz="1300" b="0">
                          <a:solidFill>
                            <a:srgbClr val="12233D"/>
                          </a:solidFill>
                          <a:latin typeface="Segoe UI"/>
                        </a:rPr>
                        <a:t>Styles</a:t>
                      </a:r>
                    </a:p>
                  </a:txBody>
                  <a:tcPr marL="109728" marR="73152" anchor="ctr">
                    <a:solidFill>
                      <a:srgbClr val="F6F9FD"/>
                    </a:solidFill>
                  </a:tcPr>
                </a:tc>
                <a:tc>
                  <a:txBody>
                    <a:bodyPr/>
                    <a:lstStyle/>
                    <a:p>
                      <a:pPr algn="l"/>
                      <a:r>
                        <a:rPr sz="1300" b="0">
                          <a:solidFill>
                            <a:srgbClr val="12233D"/>
                          </a:solidFill>
                          <a:latin typeface="Segoe UI"/>
                        </a:rPr>
                        <a:t>src/styles/*.styles.ts</a:t>
                      </a:r>
                    </a:p>
                  </a:txBody>
                  <a:tcPr marL="109728" marR="73152" anchor="ctr">
                    <a:solidFill>
                      <a:srgbClr val="F6F9FD"/>
                    </a:solidFill>
                  </a:tcPr>
                </a:tc>
                <a:tc>
                  <a:txBody>
                    <a:bodyPr/>
                    <a:lstStyle/>
                    <a:p>
                      <a:pPr algn="l"/>
                      <a:r>
                        <a:rPr sz="1300" b="0">
                          <a:solidFill>
                            <a:srgbClr val="12233D"/>
                          </a:solidFill>
                          <a:latin typeface="Segoe UI"/>
                        </a:rPr>
                        <a:t>Separated</a:t>
                      </a:r>
                    </a:p>
                  </a:txBody>
                  <a:tcPr marL="109728" marR="73152" anchor="ctr">
                    <a:solidFill>
                      <a:srgbClr val="F6F9FD"/>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9" name="TextBox 8"/>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HOW THE USER MOVES THROUGH THE APP</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Navigation &amp; User Flow</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993392"/>
            <a:ext cx="1627632" cy="1371600"/>
          </a:xfrm>
          <a:prstGeom prst="roundRect">
            <a:avLst>
              <a:gd name="adj" fmla="val 9000"/>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Login</a:t>
            </a:r>
          </a:p>
        </p:txBody>
      </p:sp>
      <p:sp>
        <p:nvSpPr>
          <p:cNvPr id="9" name="TextBox 8"/>
          <p:cNvSpPr txBox="1"/>
          <p:nvPr/>
        </p:nvSpPr>
        <p:spPr>
          <a:xfrm>
            <a:off x="749808"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Pick a role, sign in</a:t>
            </a:r>
          </a:p>
        </p:txBody>
      </p:sp>
      <p:sp>
        <p:nvSpPr>
          <p:cNvPr id="10" name="TextBox 9"/>
          <p:cNvSpPr txBox="1"/>
          <p:nvPr/>
        </p:nvSpPr>
        <p:spPr>
          <a:xfrm>
            <a:off x="2254270" y="2496312"/>
            <a:ext cx="274320" cy="365760"/>
          </a:xfrm>
          <a:prstGeom prst="rect">
            <a:avLst/>
          </a:prstGeom>
          <a:noFill/>
        </p:spPr>
        <p:txBody>
          <a:bodyPr wrap="square" lIns="0" tIns="0" rIns="0" bIns="0" anchor="t">
            <a:spAutoFit/>
          </a:bodyPr>
          <a:lstStyle/>
          <a:p>
            <a:pPr algn="ctr">
              <a:lnSpc>
                <a:spcPct val="100000"/>
              </a:lnSpc>
              <a:spcAft>
                <a:spcPts val="0"/>
              </a:spcAft>
            </a:pPr>
            <a:r>
              <a:rPr sz="2000" b="1">
                <a:solidFill>
                  <a:srgbClr val="5A6B82"/>
                </a:solidFill>
                <a:latin typeface="Segoe UI"/>
              </a:rPr>
              <a:t>›</a:t>
            </a:r>
          </a:p>
        </p:txBody>
      </p:sp>
      <p:sp>
        <p:nvSpPr>
          <p:cNvPr id="11" name="Rounded Rectangle 10"/>
          <p:cNvSpPr/>
          <p:nvPr/>
        </p:nvSpPr>
        <p:spPr>
          <a:xfrm>
            <a:off x="2496860" y="1993392"/>
            <a:ext cx="1627632" cy="1371600"/>
          </a:xfrm>
          <a:prstGeom prst="roundRect">
            <a:avLst>
              <a:gd name="adj" fmla="val 9000"/>
            </a:avLst>
          </a:prstGeom>
          <a:solidFill>
            <a:srgbClr val="167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06588"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Dashboard</a:t>
            </a:r>
          </a:p>
        </p:txBody>
      </p:sp>
      <p:sp>
        <p:nvSpPr>
          <p:cNvPr id="13" name="TextBox 12"/>
          <p:cNvSpPr txBox="1"/>
          <p:nvPr/>
        </p:nvSpPr>
        <p:spPr>
          <a:xfrm>
            <a:off x="2606588"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Role-aware landing</a:t>
            </a:r>
          </a:p>
        </p:txBody>
      </p:sp>
      <p:sp>
        <p:nvSpPr>
          <p:cNvPr id="14" name="TextBox 13"/>
          <p:cNvSpPr txBox="1"/>
          <p:nvPr/>
        </p:nvSpPr>
        <p:spPr>
          <a:xfrm>
            <a:off x="4111050" y="2496312"/>
            <a:ext cx="274320" cy="365760"/>
          </a:xfrm>
          <a:prstGeom prst="rect">
            <a:avLst/>
          </a:prstGeom>
          <a:noFill/>
        </p:spPr>
        <p:txBody>
          <a:bodyPr wrap="square" lIns="0" tIns="0" rIns="0" bIns="0" anchor="t">
            <a:spAutoFit/>
          </a:bodyPr>
          <a:lstStyle/>
          <a:p>
            <a:pPr algn="ctr">
              <a:lnSpc>
                <a:spcPct val="100000"/>
              </a:lnSpc>
              <a:spcAft>
                <a:spcPts val="0"/>
              </a:spcAft>
            </a:pPr>
            <a:r>
              <a:rPr sz="2000" b="1">
                <a:solidFill>
                  <a:srgbClr val="5A6B82"/>
                </a:solidFill>
                <a:latin typeface="Segoe UI"/>
              </a:rPr>
              <a:t>›</a:t>
            </a:r>
          </a:p>
        </p:txBody>
      </p:sp>
      <p:sp>
        <p:nvSpPr>
          <p:cNvPr id="15" name="Rounded Rectangle 14"/>
          <p:cNvSpPr/>
          <p:nvPr/>
        </p:nvSpPr>
        <p:spPr>
          <a:xfrm>
            <a:off x="4353641" y="1993392"/>
            <a:ext cx="1627632" cy="1371600"/>
          </a:xfrm>
          <a:prstGeom prst="roundRect">
            <a:avLst>
              <a:gd name="adj" fmla="val 9000"/>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63369"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Events</a:t>
            </a:r>
          </a:p>
        </p:txBody>
      </p:sp>
      <p:sp>
        <p:nvSpPr>
          <p:cNvPr id="17" name="TextBox 16"/>
          <p:cNvSpPr txBox="1"/>
          <p:nvPr/>
        </p:nvSpPr>
        <p:spPr>
          <a:xfrm>
            <a:off x="4463369"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Browse all events</a:t>
            </a:r>
          </a:p>
        </p:txBody>
      </p:sp>
      <p:sp>
        <p:nvSpPr>
          <p:cNvPr id="18" name="TextBox 17"/>
          <p:cNvSpPr txBox="1"/>
          <p:nvPr/>
        </p:nvSpPr>
        <p:spPr>
          <a:xfrm>
            <a:off x="5967831" y="2496312"/>
            <a:ext cx="274320" cy="365760"/>
          </a:xfrm>
          <a:prstGeom prst="rect">
            <a:avLst/>
          </a:prstGeom>
          <a:noFill/>
        </p:spPr>
        <p:txBody>
          <a:bodyPr wrap="square" lIns="0" tIns="0" rIns="0" bIns="0" anchor="t">
            <a:spAutoFit/>
          </a:bodyPr>
          <a:lstStyle/>
          <a:p>
            <a:pPr algn="ctr">
              <a:lnSpc>
                <a:spcPct val="100000"/>
              </a:lnSpc>
              <a:spcAft>
                <a:spcPts val="0"/>
              </a:spcAft>
            </a:pPr>
            <a:r>
              <a:rPr sz="2000" b="1">
                <a:solidFill>
                  <a:srgbClr val="5A6B82"/>
                </a:solidFill>
                <a:latin typeface="Segoe UI"/>
              </a:rPr>
              <a:t>›</a:t>
            </a:r>
          </a:p>
        </p:txBody>
      </p:sp>
      <p:sp>
        <p:nvSpPr>
          <p:cNvPr id="19" name="Rounded Rectangle 18"/>
          <p:cNvSpPr/>
          <p:nvPr/>
        </p:nvSpPr>
        <p:spPr>
          <a:xfrm>
            <a:off x="6210421" y="1993392"/>
            <a:ext cx="1627632" cy="1371600"/>
          </a:xfrm>
          <a:prstGeom prst="roundRect">
            <a:avLst>
              <a:gd name="adj" fmla="val 9000"/>
            </a:avLst>
          </a:prstGeom>
          <a:solidFill>
            <a:srgbClr val="167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0149"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Event Detail</a:t>
            </a:r>
          </a:p>
        </p:txBody>
      </p:sp>
      <p:sp>
        <p:nvSpPr>
          <p:cNvPr id="21" name="TextBox 20"/>
          <p:cNvSpPr txBox="1"/>
          <p:nvPr/>
        </p:nvSpPr>
        <p:spPr>
          <a:xfrm>
            <a:off x="6320149"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View / Edit / Register</a:t>
            </a:r>
          </a:p>
        </p:txBody>
      </p:sp>
      <p:sp>
        <p:nvSpPr>
          <p:cNvPr id="22" name="TextBox 21"/>
          <p:cNvSpPr txBox="1"/>
          <p:nvPr/>
        </p:nvSpPr>
        <p:spPr>
          <a:xfrm>
            <a:off x="7824612" y="2496312"/>
            <a:ext cx="274320" cy="365760"/>
          </a:xfrm>
          <a:prstGeom prst="rect">
            <a:avLst/>
          </a:prstGeom>
          <a:noFill/>
        </p:spPr>
        <p:txBody>
          <a:bodyPr wrap="square" lIns="0" tIns="0" rIns="0" bIns="0" anchor="t">
            <a:spAutoFit/>
          </a:bodyPr>
          <a:lstStyle/>
          <a:p>
            <a:pPr algn="ctr">
              <a:lnSpc>
                <a:spcPct val="100000"/>
              </a:lnSpc>
              <a:spcAft>
                <a:spcPts val="0"/>
              </a:spcAft>
            </a:pPr>
            <a:r>
              <a:rPr sz="2000" b="1">
                <a:solidFill>
                  <a:srgbClr val="5A6B82"/>
                </a:solidFill>
                <a:latin typeface="Segoe UI"/>
              </a:rPr>
              <a:t>›</a:t>
            </a:r>
          </a:p>
        </p:txBody>
      </p:sp>
      <p:sp>
        <p:nvSpPr>
          <p:cNvPr id="23" name="Rounded Rectangle 22"/>
          <p:cNvSpPr/>
          <p:nvPr/>
        </p:nvSpPr>
        <p:spPr>
          <a:xfrm>
            <a:off x="8067202" y="1993392"/>
            <a:ext cx="1627632" cy="1371600"/>
          </a:xfrm>
          <a:prstGeom prst="roundRect">
            <a:avLst>
              <a:gd name="adj" fmla="val 9000"/>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76930"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Check-In</a:t>
            </a:r>
          </a:p>
        </p:txBody>
      </p:sp>
      <p:sp>
        <p:nvSpPr>
          <p:cNvPr id="25" name="TextBox 24"/>
          <p:cNvSpPr txBox="1"/>
          <p:nvPr/>
        </p:nvSpPr>
        <p:spPr>
          <a:xfrm>
            <a:off x="8176930"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QR scan → Attendance</a:t>
            </a:r>
          </a:p>
        </p:txBody>
      </p:sp>
      <p:sp>
        <p:nvSpPr>
          <p:cNvPr id="26" name="TextBox 25"/>
          <p:cNvSpPr txBox="1"/>
          <p:nvPr/>
        </p:nvSpPr>
        <p:spPr>
          <a:xfrm>
            <a:off x="9681392" y="2496312"/>
            <a:ext cx="274320" cy="365760"/>
          </a:xfrm>
          <a:prstGeom prst="rect">
            <a:avLst/>
          </a:prstGeom>
          <a:noFill/>
        </p:spPr>
        <p:txBody>
          <a:bodyPr wrap="square" lIns="0" tIns="0" rIns="0" bIns="0" anchor="t">
            <a:spAutoFit/>
          </a:bodyPr>
          <a:lstStyle/>
          <a:p>
            <a:pPr algn="ctr">
              <a:lnSpc>
                <a:spcPct val="100000"/>
              </a:lnSpc>
              <a:spcAft>
                <a:spcPts val="0"/>
              </a:spcAft>
            </a:pPr>
            <a:r>
              <a:rPr sz="2000" b="1">
                <a:solidFill>
                  <a:srgbClr val="5A6B82"/>
                </a:solidFill>
                <a:latin typeface="Segoe UI"/>
              </a:rPr>
              <a:t>›</a:t>
            </a:r>
          </a:p>
        </p:txBody>
      </p:sp>
      <p:sp>
        <p:nvSpPr>
          <p:cNvPr id="27" name="Rounded Rectangle 26"/>
          <p:cNvSpPr/>
          <p:nvPr/>
        </p:nvSpPr>
        <p:spPr>
          <a:xfrm>
            <a:off x="9923983" y="1993392"/>
            <a:ext cx="1627632" cy="1371600"/>
          </a:xfrm>
          <a:prstGeom prst="roundRect">
            <a:avLst>
              <a:gd name="adj" fmla="val 9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33711" y="2249424"/>
            <a:ext cx="1408176" cy="411480"/>
          </a:xfrm>
          <a:prstGeom prst="rect">
            <a:avLst/>
          </a:prstGeom>
          <a:noFill/>
        </p:spPr>
        <p:txBody>
          <a:bodyPr wrap="square" lIns="0" tIns="0" rIns="0" bIns="0" anchor="t">
            <a:spAutoFit/>
          </a:bodyPr>
          <a:lstStyle/>
          <a:p>
            <a:pPr algn="ctr">
              <a:lnSpc>
                <a:spcPct val="100000"/>
              </a:lnSpc>
              <a:spcAft>
                <a:spcPts val="0"/>
              </a:spcAft>
            </a:pPr>
            <a:r>
              <a:rPr sz="1450" b="1">
                <a:solidFill>
                  <a:srgbClr val="FFFFFF"/>
                </a:solidFill>
                <a:latin typeface="Segoe UI"/>
              </a:rPr>
              <a:t>Reports</a:t>
            </a:r>
          </a:p>
        </p:txBody>
      </p:sp>
      <p:sp>
        <p:nvSpPr>
          <p:cNvPr id="29" name="TextBox 28"/>
          <p:cNvSpPr txBox="1"/>
          <p:nvPr/>
        </p:nvSpPr>
        <p:spPr>
          <a:xfrm>
            <a:off x="10033711" y="2770632"/>
            <a:ext cx="1408176" cy="457200"/>
          </a:xfrm>
          <a:prstGeom prst="rect">
            <a:avLst/>
          </a:prstGeom>
          <a:noFill/>
        </p:spPr>
        <p:txBody>
          <a:bodyPr wrap="square" lIns="0" tIns="0" rIns="0" bIns="0" anchor="t">
            <a:spAutoFit/>
          </a:bodyPr>
          <a:lstStyle/>
          <a:p>
            <a:pPr algn="ctr">
              <a:lnSpc>
                <a:spcPct val="100000"/>
              </a:lnSpc>
              <a:spcAft>
                <a:spcPts val="0"/>
              </a:spcAft>
            </a:pPr>
            <a:r>
              <a:rPr sz="1000" b="0">
                <a:solidFill>
                  <a:srgbClr val="DDEAFA"/>
                </a:solidFill>
                <a:latin typeface="Segoe UI"/>
              </a:rPr>
              <a:t>Summary per event</a:t>
            </a:r>
          </a:p>
        </p:txBody>
      </p:sp>
      <p:sp>
        <p:nvSpPr>
          <p:cNvPr id="30" name="TextBox 29"/>
          <p:cNvSpPr txBox="1"/>
          <p:nvPr/>
        </p:nvSpPr>
        <p:spPr>
          <a:xfrm>
            <a:off x="640080" y="3776472"/>
            <a:ext cx="10881360" cy="2606040"/>
          </a:xfrm>
          <a:prstGeom prst="rect">
            <a:avLst/>
          </a:prstGeom>
          <a:noFill/>
        </p:spPr>
        <p:txBody>
          <a:bodyPr wrap="square" lIns="0" tIns="0" rIns="0" bIns="0">
            <a:spAutoFit/>
          </a:bodyPr>
          <a:lstStyle/>
          <a:p>
            <a:pPr>
              <a:lnSpc>
                <a:spcPct val="105000"/>
              </a:lnSpc>
              <a:spcAft>
                <a:spcPts val="1100"/>
              </a:spcAft>
            </a:pPr>
            <a:r>
              <a:rPr sz="1450" b="1">
                <a:solidFill>
                  <a:srgbClr val="0274DF"/>
                </a:solidFill>
                <a:latin typeface="Segoe UI"/>
              </a:rPr>
              <a:t>▪  </a:t>
            </a:r>
            <a:r>
              <a:rPr sz="1450" b="0">
                <a:solidFill>
                  <a:srgbClr val="12233D"/>
                </a:solidFill>
                <a:latin typeface="Segoe UI"/>
              </a:rPr>
              <a:t>Expo Router file-based routing — every file in src/app/ is a screen</a:t>
            </a:r>
          </a:p>
          <a:p>
            <a:pPr>
              <a:lnSpc>
                <a:spcPct val="105000"/>
              </a:lnSpc>
              <a:spcAft>
                <a:spcPts val="1100"/>
              </a:spcAft>
            </a:pPr>
            <a:r>
              <a:rPr sz="1450" b="1">
                <a:solidFill>
                  <a:srgbClr val="0274DF"/>
                </a:solidFill>
                <a:latin typeface="Segoe UI"/>
              </a:rPr>
              <a:t>▪  </a:t>
            </a:r>
            <a:r>
              <a:rPr sz="1450" b="0">
                <a:solidFill>
                  <a:srgbClr val="12233D"/>
                </a:solidFill>
                <a:latin typeface="Segoe UI"/>
              </a:rPr>
              <a:t>Bottom navigation changes with the role</a:t>
            </a:r>
          </a:p>
          <a:p>
            <a:pPr>
              <a:lnSpc>
                <a:spcPct val="105000"/>
              </a:lnSpc>
              <a:spcAft>
                <a:spcPts val="1100"/>
              </a:spcAft>
            </a:pPr>
            <a:r>
              <a:rPr sz="1450" b="1">
                <a:solidFill>
                  <a:srgbClr val="0274DF"/>
                </a:solidFill>
                <a:latin typeface="Segoe UI"/>
              </a:rPr>
              <a:t>▪  </a:t>
            </a:r>
            <a:r>
              <a:rPr sz="1450" b="0">
                <a:solidFill>
                  <a:srgbClr val="12233D"/>
                </a:solidFill>
                <a:latin typeface="Segoe UI"/>
              </a:rPr>
              <a:t>Admin &amp; Participant:  Home / Events / Profile</a:t>
            </a:r>
          </a:p>
          <a:p>
            <a:pPr>
              <a:lnSpc>
                <a:spcPct val="105000"/>
              </a:lnSpc>
              <a:spcAft>
                <a:spcPts val="1100"/>
              </a:spcAft>
            </a:pPr>
            <a:r>
              <a:rPr sz="1450" b="1">
                <a:solidFill>
                  <a:srgbClr val="0274DF"/>
                </a:solidFill>
                <a:latin typeface="Segoe UI"/>
              </a:rPr>
              <a:t>▪  </a:t>
            </a:r>
            <a:r>
              <a:rPr sz="1450" b="0">
                <a:solidFill>
                  <a:srgbClr val="12233D"/>
                </a:solidFill>
                <a:latin typeface="Segoe UI"/>
              </a:rPr>
              <a:t>Staff:  Home / Scan / Profile</a:t>
            </a:r>
          </a:p>
          <a:p>
            <a:pPr>
              <a:lnSpc>
                <a:spcPct val="105000"/>
              </a:lnSpc>
              <a:spcAft>
                <a:spcPts val="1100"/>
              </a:spcAft>
            </a:pPr>
            <a:r>
              <a:rPr sz="1450" b="1">
                <a:solidFill>
                  <a:srgbClr val="0274DF"/>
                </a:solidFill>
                <a:latin typeface="Segoe UI"/>
              </a:rPr>
              <a:t>▪  </a:t>
            </a:r>
            <a:r>
              <a:rPr sz="1450" b="0">
                <a:solidFill>
                  <a:srgbClr val="12233D"/>
                </a:solidFill>
                <a:latin typeface="Segoe UI"/>
              </a:rPr>
              <a:t>Route guards redirect users away from screens their role cannot access</a:t>
            </a:r>
          </a:p>
          <a:p>
            <a:pPr>
              <a:lnSpc>
                <a:spcPct val="105000"/>
              </a:lnSpc>
              <a:spcAft>
                <a:spcPts val="1100"/>
              </a:spcAft>
            </a:pPr>
            <a:r>
              <a:rPr sz="1450" b="1">
                <a:solidFill>
                  <a:srgbClr val="0274DF"/>
                </a:solidFill>
                <a:latin typeface="Segoe UI"/>
              </a:rPr>
              <a:t>▪  </a:t>
            </a:r>
            <a:r>
              <a:rPr sz="1450" b="0">
                <a:solidFill>
                  <a:srgbClr val="12233D"/>
                </a:solidFill>
                <a:latin typeface="Segoe UI"/>
              </a:rPr>
              <a:t>No session at all → redirected to Login</a:t>
            </a:r>
          </a:p>
          <a:p>
            <a:pPr>
              <a:lnSpc>
                <a:spcPct val="105000"/>
              </a:lnSpc>
              <a:spcAft>
                <a:spcPts val="1100"/>
              </a:spcAft>
            </a:pPr>
            <a:r>
              <a:rPr sz="1450" b="1">
                <a:solidFill>
                  <a:srgbClr val="0274DF"/>
                </a:solidFill>
                <a:latin typeface="Segoe UI"/>
              </a:rPr>
              <a:t>▪  </a:t>
            </a:r>
            <a:r>
              <a:rPr sz="1450" b="0">
                <a:solidFill>
                  <a:srgbClr val="12233D"/>
                </a:solidFill>
                <a:latin typeface="Segoe UI"/>
              </a:rPr>
              <a:t>Log Out clears the session and returns to Login</a:t>
            </a:r>
          </a:p>
        </p:txBody>
      </p:sp>
      <p:sp>
        <p:nvSpPr>
          <p:cNvPr id="31" name="TextBox 30"/>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32" name="TextBox 31"/>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WHAT WE WILL SHOW</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Live Demonstration Plan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1 — Admin</a:t>
            </a:r>
          </a:p>
        </p:txBody>
      </p:sp>
      <p:sp>
        <p:nvSpPr>
          <p:cNvPr id="10" name="TextBox 9"/>
          <p:cNvSpPr txBox="1"/>
          <p:nvPr/>
        </p:nvSpPr>
        <p:spPr>
          <a:xfrm>
            <a:off x="932688"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Log in as Admin</a:t>
            </a:r>
          </a:p>
          <a:p>
            <a:pPr>
              <a:lnSpc>
                <a:spcPct val="105000"/>
              </a:lnSpc>
              <a:spcAft>
                <a:spcPts val="900"/>
              </a:spcAft>
            </a:pPr>
            <a:r>
              <a:rPr sz="1350" b="1">
                <a:solidFill>
                  <a:srgbClr val="0274DF"/>
                </a:solidFill>
                <a:latin typeface="Segoe UI"/>
              </a:rPr>
              <a:t>▪  </a:t>
            </a:r>
            <a:r>
              <a:rPr sz="1350" b="0">
                <a:solidFill>
                  <a:srgbClr val="12233D"/>
                </a:solidFill>
                <a:latin typeface="Segoe UI"/>
              </a:rPr>
              <a:t>Show dashboard stats</a:t>
            </a:r>
          </a:p>
          <a:p>
            <a:pPr>
              <a:lnSpc>
                <a:spcPct val="105000"/>
              </a:lnSpc>
              <a:spcAft>
                <a:spcPts val="900"/>
              </a:spcAft>
            </a:pPr>
            <a:r>
              <a:rPr sz="1350" b="1">
                <a:solidFill>
                  <a:srgbClr val="0274DF"/>
                </a:solidFill>
                <a:latin typeface="Segoe UI"/>
              </a:rPr>
              <a:t>▪  </a:t>
            </a:r>
            <a:r>
              <a:rPr sz="1350" b="0">
                <a:solidFill>
                  <a:srgbClr val="12233D"/>
                </a:solidFill>
                <a:latin typeface="Segoe UI"/>
              </a:rPr>
              <a:t>Create a new event</a:t>
            </a:r>
          </a:p>
          <a:p>
            <a:pPr>
              <a:lnSpc>
                <a:spcPct val="105000"/>
              </a:lnSpc>
              <a:spcAft>
                <a:spcPts val="900"/>
              </a:spcAft>
            </a:pPr>
            <a:r>
              <a:rPr sz="1350" b="1">
                <a:solidFill>
                  <a:srgbClr val="0274DF"/>
                </a:solidFill>
                <a:latin typeface="Segoe UI"/>
              </a:rPr>
              <a:t>▪  </a:t>
            </a:r>
            <a:r>
              <a:rPr sz="1350" b="0">
                <a:solidFill>
                  <a:srgbClr val="12233D"/>
                </a:solidFill>
                <a:latin typeface="Segoe UI"/>
              </a:rPr>
              <a:t>Edit and delete an event</a:t>
            </a:r>
          </a:p>
          <a:p>
            <a:pPr>
              <a:lnSpc>
                <a:spcPct val="105000"/>
              </a:lnSpc>
              <a:spcAft>
                <a:spcPts val="900"/>
              </a:spcAft>
            </a:pPr>
            <a:r>
              <a:rPr sz="1350" b="1">
                <a:solidFill>
                  <a:srgbClr val="0274DF"/>
                </a:solidFill>
                <a:latin typeface="Segoe UI"/>
              </a:rPr>
              <a:t>▪  </a:t>
            </a:r>
            <a:r>
              <a:rPr sz="1350" b="0">
                <a:solidFill>
                  <a:srgbClr val="12233D"/>
                </a:solidFill>
                <a:latin typeface="Segoe UI"/>
              </a:rPr>
              <a:t>Show participants and reports</a:t>
            </a:r>
          </a:p>
          <a:p>
            <a:pPr>
              <a:lnSpc>
                <a:spcPct val="105000"/>
              </a:lnSpc>
              <a:spcAft>
                <a:spcPts val="900"/>
              </a:spcAft>
            </a:pPr>
            <a:r>
              <a:rPr sz="1350" b="1">
                <a:solidFill>
                  <a:srgbClr val="0274DF"/>
                </a:solidFill>
                <a:latin typeface="Segoe UI"/>
              </a:rPr>
              <a:t>▪  </a:t>
            </a:r>
            <a:r>
              <a:rPr sz="1350" b="0">
                <a:solidFill>
                  <a:srgbClr val="12233D"/>
                </a:solidFill>
                <a:latin typeface="Segoe UI"/>
              </a:rPr>
              <a:t>Show user management</a:t>
            </a:r>
          </a:p>
        </p:txBody>
      </p:sp>
      <p:sp>
        <p:nvSpPr>
          <p:cNvPr id="11" name="Rounded Rectangle 10"/>
          <p:cNvSpPr/>
          <p:nvPr/>
        </p:nvSpPr>
        <p:spPr>
          <a:xfrm>
            <a:off x="4383938"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3938"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76546"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2 — Participant</a:t>
            </a:r>
          </a:p>
        </p:txBody>
      </p:sp>
      <p:sp>
        <p:nvSpPr>
          <p:cNvPr id="14" name="TextBox 13"/>
          <p:cNvSpPr txBox="1"/>
          <p:nvPr/>
        </p:nvSpPr>
        <p:spPr>
          <a:xfrm>
            <a:off x="4676546"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Log out, log in as Participant</a:t>
            </a:r>
          </a:p>
          <a:p>
            <a:pPr>
              <a:lnSpc>
                <a:spcPct val="105000"/>
              </a:lnSpc>
              <a:spcAft>
                <a:spcPts val="900"/>
              </a:spcAft>
            </a:pPr>
            <a:r>
              <a:rPr sz="1350" b="1">
                <a:solidFill>
                  <a:srgbClr val="0274DF"/>
                </a:solidFill>
                <a:latin typeface="Segoe UI"/>
              </a:rPr>
              <a:t>▪  </a:t>
            </a:r>
            <a:r>
              <a:rPr sz="1350" b="0">
                <a:solidFill>
                  <a:srgbClr val="12233D"/>
                </a:solidFill>
                <a:latin typeface="Segoe UI"/>
              </a:rPr>
              <a:t>Browse the events list</a:t>
            </a:r>
          </a:p>
          <a:p>
            <a:pPr>
              <a:lnSpc>
                <a:spcPct val="105000"/>
              </a:lnSpc>
              <a:spcAft>
                <a:spcPts val="900"/>
              </a:spcAft>
            </a:pPr>
            <a:r>
              <a:rPr sz="1350" b="1">
                <a:solidFill>
                  <a:srgbClr val="0274DF"/>
                </a:solidFill>
                <a:latin typeface="Segoe UI"/>
              </a:rPr>
              <a:t>▪  </a:t>
            </a:r>
            <a:r>
              <a:rPr sz="1350" b="0">
                <a:solidFill>
                  <a:srgbClr val="12233D"/>
                </a:solidFill>
                <a:latin typeface="Segoe UI"/>
              </a:rPr>
              <a:t>Register for an event</a:t>
            </a:r>
          </a:p>
          <a:p>
            <a:pPr>
              <a:lnSpc>
                <a:spcPct val="105000"/>
              </a:lnSpc>
              <a:spcAft>
                <a:spcPts val="900"/>
              </a:spcAft>
            </a:pPr>
            <a:r>
              <a:rPr sz="1350" b="1">
                <a:solidFill>
                  <a:srgbClr val="0274DF"/>
                </a:solidFill>
                <a:latin typeface="Segoe UI"/>
              </a:rPr>
              <a:t>▪  </a:t>
            </a:r>
            <a:r>
              <a:rPr sz="1350" b="0">
                <a:solidFill>
                  <a:srgbClr val="12233D"/>
                </a:solidFill>
                <a:latin typeface="Segoe UI"/>
              </a:rPr>
              <a:t>Try registering twice (blocked)</a:t>
            </a:r>
          </a:p>
          <a:p>
            <a:pPr>
              <a:lnSpc>
                <a:spcPct val="105000"/>
              </a:lnSpc>
              <a:spcAft>
                <a:spcPts val="900"/>
              </a:spcAft>
            </a:pPr>
            <a:r>
              <a:rPr sz="1350" b="1">
                <a:solidFill>
                  <a:srgbClr val="0274DF"/>
                </a:solidFill>
                <a:latin typeface="Segoe UI"/>
              </a:rPr>
              <a:t>▪  </a:t>
            </a:r>
            <a:r>
              <a:rPr sz="1350" b="0">
                <a:solidFill>
                  <a:srgbClr val="12233D"/>
                </a:solidFill>
                <a:latin typeface="Segoe UI"/>
              </a:rPr>
              <a:t>Open My QR Code</a:t>
            </a:r>
          </a:p>
        </p:txBody>
      </p:sp>
      <p:sp>
        <p:nvSpPr>
          <p:cNvPr id="15" name="Rounded Rectangle 14"/>
          <p:cNvSpPr/>
          <p:nvPr/>
        </p:nvSpPr>
        <p:spPr>
          <a:xfrm>
            <a:off x="8127796" y="1581912"/>
            <a:ext cx="3423818" cy="4709160"/>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27796" y="1581912"/>
            <a:ext cx="64008" cy="4709160"/>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20404" y="1828800"/>
            <a:ext cx="2875178" cy="457200"/>
          </a:xfrm>
          <a:prstGeom prst="rect">
            <a:avLst/>
          </a:prstGeom>
          <a:noFill/>
        </p:spPr>
        <p:txBody>
          <a:bodyPr wrap="square" lIns="0" tIns="0" rIns="0" bIns="0" anchor="t">
            <a:spAutoFit/>
          </a:bodyPr>
          <a:lstStyle/>
          <a:p>
            <a:pPr algn="l">
              <a:lnSpc>
                <a:spcPct val="100000"/>
              </a:lnSpc>
              <a:spcAft>
                <a:spcPts val="0"/>
              </a:spcAft>
            </a:pPr>
            <a:r>
              <a:rPr sz="1700" b="1">
                <a:solidFill>
                  <a:srgbClr val="0B1F3A"/>
                </a:solidFill>
                <a:latin typeface="Segoe UI"/>
              </a:rPr>
              <a:t>3 — Staff</a:t>
            </a:r>
          </a:p>
        </p:txBody>
      </p:sp>
      <p:sp>
        <p:nvSpPr>
          <p:cNvPr id="18" name="TextBox 17"/>
          <p:cNvSpPr txBox="1"/>
          <p:nvPr/>
        </p:nvSpPr>
        <p:spPr>
          <a:xfrm>
            <a:off x="8420404" y="2404872"/>
            <a:ext cx="2856890" cy="3611880"/>
          </a:xfrm>
          <a:prstGeom prst="rect">
            <a:avLst/>
          </a:prstGeom>
          <a:noFill/>
        </p:spPr>
        <p:txBody>
          <a:bodyPr wrap="square" lIns="0" tIns="0" rIns="0" bIns="0">
            <a:spAutoFit/>
          </a:bodyPr>
          <a:lstStyle/>
          <a:p>
            <a:pPr>
              <a:lnSpc>
                <a:spcPct val="105000"/>
              </a:lnSpc>
              <a:spcAft>
                <a:spcPts val="900"/>
              </a:spcAft>
            </a:pPr>
            <a:r>
              <a:rPr sz="1350" b="1">
                <a:solidFill>
                  <a:srgbClr val="0274DF"/>
                </a:solidFill>
                <a:latin typeface="Segoe UI"/>
              </a:rPr>
              <a:t>▪  </a:t>
            </a:r>
            <a:r>
              <a:rPr sz="1350" b="0">
                <a:solidFill>
                  <a:srgbClr val="12233D"/>
                </a:solidFill>
                <a:latin typeface="Segoe UI"/>
              </a:rPr>
              <a:t>Log out, log in as Staff</a:t>
            </a:r>
          </a:p>
          <a:p>
            <a:pPr>
              <a:lnSpc>
                <a:spcPct val="105000"/>
              </a:lnSpc>
              <a:spcAft>
                <a:spcPts val="900"/>
              </a:spcAft>
            </a:pPr>
            <a:r>
              <a:rPr sz="1350" b="1">
                <a:solidFill>
                  <a:srgbClr val="0274DF"/>
                </a:solidFill>
                <a:latin typeface="Segoe UI"/>
              </a:rPr>
              <a:t>▪  </a:t>
            </a:r>
            <a:r>
              <a:rPr sz="1350" b="0">
                <a:solidFill>
                  <a:srgbClr val="12233D"/>
                </a:solidFill>
                <a:latin typeface="Segoe UI"/>
              </a:rPr>
              <a:t>Open the Scan screen</a:t>
            </a:r>
          </a:p>
          <a:p>
            <a:pPr>
              <a:lnSpc>
                <a:spcPct val="105000"/>
              </a:lnSpc>
              <a:spcAft>
                <a:spcPts val="900"/>
              </a:spcAft>
            </a:pPr>
            <a:r>
              <a:rPr sz="1350" b="1">
                <a:solidFill>
                  <a:srgbClr val="0274DF"/>
                </a:solidFill>
                <a:latin typeface="Segoe UI"/>
              </a:rPr>
              <a:t>▪  </a:t>
            </a:r>
            <a:r>
              <a:rPr sz="1350" b="0">
                <a:solidFill>
                  <a:srgbClr val="12233D"/>
                </a:solidFill>
                <a:latin typeface="Segoe UI"/>
              </a:rPr>
              <a:t>Check in a valid registration</a:t>
            </a:r>
          </a:p>
          <a:p>
            <a:pPr>
              <a:lnSpc>
                <a:spcPct val="105000"/>
              </a:lnSpc>
              <a:spcAft>
                <a:spcPts val="900"/>
              </a:spcAft>
            </a:pPr>
            <a:r>
              <a:rPr sz="1350" b="1">
                <a:solidFill>
                  <a:srgbClr val="0274DF"/>
                </a:solidFill>
                <a:latin typeface="Segoe UI"/>
              </a:rPr>
              <a:t>▪  </a:t>
            </a:r>
            <a:r>
              <a:rPr sz="1350" b="0">
                <a:solidFill>
                  <a:srgbClr val="12233D"/>
                </a:solidFill>
                <a:latin typeface="Segoe UI"/>
              </a:rPr>
              <a:t>Try a duplicate check-in (blocked)</a:t>
            </a:r>
          </a:p>
          <a:p>
            <a:pPr>
              <a:lnSpc>
                <a:spcPct val="105000"/>
              </a:lnSpc>
              <a:spcAft>
                <a:spcPts val="900"/>
              </a:spcAft>
            </a:pPr>
            <a:r>
              <a:rPr sz="1350" b="1">
                <a:solidFill>
                  <a:srgbClr val="0274DF"/>
                </a:solidFill>
                <a:latin typeface="Segoe UI"/>
              </a:rPr>
              <a:t>▪  </a:t>
            </a:r>
            <a:r>
              <a:rPr sz="1350" b="0">
                <a:solidFill>
                  <a:srgbClr val="12233D"/>
                </a:solidFill>
                <a:latin typeface="Segoe UI"/>
              </a:rPr>
              <a:t>Show the attendance record</a:t>
            </a:r>
          </a:p>
        </p:txBody>
      </p:sp>
      <p:sp>
        <p:nvSpPr>
          <p:cNvPr id="19" name="TextBox 18"/>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20" name="TextBox 19"/>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STATED HONESTLY</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Prototype Limitations</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27632"/>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27632"/>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19072"/>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No backend or database</a:t>
            </a:r>
          </a:p>
        </p:txBody>
      </p:sp>
      <p:sp>
        <p:nvSpPr>
          <p:cNvPr id="10" name="TextBox 9"/>
          <p:cNvSpPr txBox="1"/>
          <p:nvPr/>
        </p:nvSpPr>
        <p:spPr>
          <a:xfrm>
            <a:off x="4206240" y="1737360"/>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All data is mock and in-memory; everything resets on refresh.</a:t>
            </a:r>
          </a:p>
        </p:txBody>
      </p:sp>
      <p:sp>
        <p:nvSpPr>
          <p:cNvPr id="11" name="Rounded Rectangle 10"/>
          <p:cNvSpPr/>
          <p:nvPr/>
        </p:nvSpPr>
        <p:spPr>
          <a:xfrm>
            <a:off x="640080" y="2432304"/>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2432304"/>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2523744"/>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No real authentication</a:t>
            </a:r>
          </a:p>
        </p:txBody>
      </p:sp>
      <p:sp>
        <p:nvSpPr>
          <p:cNvPr id="14" name="TextBox 13"/>
          <p:cNvSpPr txBox="1"/>
          <p:nvPr/>
        </p:nvSpPr>
        <p:spPr>
          <a:xfrm>
            <a:off x="4206240" y="2542032"/>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The role selector is a demo control, not identity verification.</a:t>
            </a:r>
          </a:p>
        </p:txBody>
      </p:sp>
      <p:sp>
        <p:nvSpPr>
          <p:cNvPr id="15" name="Rounded Rectangle 14"/>
          <p:cNvSpPr/>
          <p:nvPr/>
        </p:nvSpPr>
        <p:spPr>
          <a:xfrm>
            <a:off x="640080" y="3236976"/>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236976"/>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328416"/>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Guards are not security</a:t>
            </a:r>
          </a:p>
        </p:txBody>
      </p:sp>
      <p:sp>
        <p:nvSpPr>
          <p:cNvPr id="18" name="TextBox 17"/>
          <p:cNvSpPr txBox="1"/>
          <p:nvPr/>
        </p:nvSpPr>
        <p:spPr>
          <a:xfrm>
            <a:off x="4206240" y="3346704"/>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Frontend route guards can be bypassed; they only shape the demo.</a:t>
            </a:r>
          </a:p>
        </p:txBody>
      </p:sp>
      <p:sp>
        <p:nvSpPr>
          <p:cNvPr id="19" name="Rounded Rectangle 18"/>
          <p:cNvSpPr/>
          <p:nvPr/>
        </p:nvSpPr>
        <p:spPr>
          <a:xfrm>
            <a:off x="640080" y="4041648"/>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4041648"/>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4133087"/>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QR is simulated</a:t>
            </a:r>
          </a:p>
        </p:txBody>
      </p:sp>
      <p:sp>
        <p:nvSpPr>
          <p:cNvPr id="22" name="TextBox 21"/>
          <p:cNvSpPr txBox="1"/>
          <p:nvPr/>
        </p:nvSpPr>
        <p:spPr>
          <a:xfrm>
            <a:off x="4206240" y="4151376"/>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The QR pattern is not scannable and the scanner uses no camera.</a:t>
            </a:r>
          </a:p>
        </p:txBody>
      </p:sp>
      <p:sp>
        <p:nvSpPr>
          <p:cNvPr id="23" name="Rounded Rectangle 22"/>
          <p:cNvSpPr/>
          <p:nvPr/>
        </p:nvSpPr>
        <p:spPr>
          <a:xfrm>
            <a:off x="640080" y="4846320"/>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846320"/>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4937759"/>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No file export</a:t>
            </a:r>
          </a:p>
        </p:txBody>
      </p:sp>
      <p:sp>
        <p:nvSpPr>
          <p:cNvPr id="26" name="TextBox 25"/>
          <p:cNvSpPr txBox="1"/>
          <p:nvPr/>
        </p:nvSpPr>
        <p:spPr>
          <a:xfrm>
            <a:off x="4206240" y="4956048"/>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The report export button shows a notice, not a real file.</a:t>
            </a:r>
          </a:p>
        </p:txBody>
      </p:sp>
      <p:sp>
        <p:nvSpPr>
          <p:cNvPr id="27" name="Rounded Rectangle 26"/>
          <p:cNvSpPr/>
          <p:nvPr/>
        </p:nvSpPr>
        <p:spPr>
          <a:xfrm>
            <a:off x="640080" y="5650992"/>
            <a:ext cx="10881360" cy="713232"/>
          </a:xfrm>
          <a:prstGeom prst="roundRect">
            <a:avLst>
              <a:gd name="adj" fmla="val 13000"/>
            </a:avLst>
          </a:prstGeom>
          <a:solidFill>
            <a:srgbClr val="FE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 y="5650992"/>
            <a:ext cx="64008" cy="713232"/>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 y="5742431"/>
            <a:ext cx="3200400" cy="320040"/>
          </a:xfrm>
          <a:prstGeom prst="rect">
            <a:avLst/>
          </a:prstGeom>
          <a:noFill/>
        </p:spPr>
        <p:txBody>
          <a:bodyPr wrap="square" lIns="0" tIns="0" rIns="0" bIns="0" anchor="t">
            <a:spAutoFit/>
          </a:bodyPr>
          <a:lstStyle/>
          <a:p>
            <a:pPr algn="l">
              <a:lnSpc>
                <a:spcPct val="100000"/>
              </a:lnSpc>
              <a:spcAft>
                <a:spcPts val="0"/>
              </a:spcAft>
            </a:pPr>
            <a:r>
              <a:rPr sz="1400" b="1">
                <a:solidFill>
                  <a:srgbClr val="0B1F3A"/>
                </a:solidFill>
                <a:latin typeface="Segoe UI"/>
              </a:rPr>
              <a:t>Dynamic dates</a:t>
            </a:r>
          </a:p>
        </p:txBody>
      </p:sp>
      <p:sp>
        <p:nvSpPr>
          <p:cNvPr id="30" name="TextBox 29"/>
          <p:cNvSpPr txBox="1"/>
          <p:nvPr/>
        </p:nvSpPr>
        <p:spPr>
          <a:xfrm>
            <a:off x="4206240" y="5760720"/>
            <a:ext cx="7132320" cy="502920"/>
          </a:xfrm>
          <a:prstGeom prst="rect">
            <a:avLst/>
          </a:prstGeom>
          <a:noFill/>
        </p:spPr>
        <p:txBody>
          <a:bodyPr wrap="square" lIns="0" tIns="0" rIns="0" bIns="0" anchor="t">
            <a:spAutoFit/>
          </a:bodyPr>
          <a:lstStyle/>
          <a:p>
            <a:pPr algn="l">
              <a:lnSpc>
                <a:spcPct val="100000"/>
              </a:lnSpc>
              <a:spcAft>
                <a:spcPts val="0"/>
              </a:spcAft>
            </a:pPr>
            <a:r>
              <a:rPr sz="1250" b="0">
                <a:solidFill>
                  <a:srgbClr val="5A6B82"/>
                </a:solidFill>
                <a:latin typeface="Segoe UI"/>
              </a:rPr>
              <a:t>Event dates are free text — there is no date picker in scope.</a:t>
            </a:r>
          </a:p>
        </p:txBody>
      </p:sp>
      <p:sp>
        <p:nvSpPr>
          <p:cNvPr id="31" name="TextBox 30"/>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32" name="TextBox 31"/>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881360" cy="274320"/>
          </a:xfrm>
          <a:prstGeom prst="rect">
            <a:avLst/>
          </a:prstGeom>
          <a:noFill/>
        </p:spPr>
        <p:txBody>
          <a:bodyPr wrap="square" lIns="0" tIns="0" rIns="0" bIns="0" anchor="t">
            <a:spAutoFit/>
          </a:bodyPr>
          <a:lstStyle/>
          <a:p>
            <a:pPr algn="l">
              <a:lnSpc>
                <a:spcPct val="100000"/>
              </a:lnSpc>
              <a:spcAft>
                <a:spcPts val="0"/>
              </a:spcAft>
            </a:pPr>
            <a:r>
              <a:rPr sz="1100" b="1">
                <a:solidFill>
                  <a:srgbClr val="0274DF"/>
                </a:solidFill>
                <a:latin typeface="Segoe UI"/>
              </a:rPr>
              <a:t>WRAPPING UP</a:t>
            </a:r>
          </a:p>
        </p:txBody>
      </p:sp>
      <p:sp>
        <p:nvSpPr>
          <p:cNvPr id="5" name="TextBox 4"/>
          <p:cNvSpPr txBox="1"/>
          <p:nvPr/>
        </p:nvSpPr>
        <p:spPr>
          <a:xfrm>
            <a:off x="640080" y="713232"/>
            <a:ext cx="10881360" cy="685800"/>
          </a:xfrm>
          <a:prstGeom prst="rect">
            <a:avLst/>
          </a:prstGeom>
          <a:noFill/>
        </p:spPr>
        <p:txBody>
          <a:bodyPr wrap="square" lIns="0" tIns="0" rIns="0" bIns="0" anchor="t">
            <a:spAutoFit/>
          </a:bodyPr>
          <a:lstStyle/>
          <a:p>
            <a:pPr algn="l">
              <a:lnSpc>
                <a:spcPct val="100000"/>
              </a:lnSpc>
              <a:spcAft>
                <a:spcPts val="0"/>
              </a:spcAft>
            </a:pPr>
            <a:r>
              <a:rPr sz="3000" b="1">
                <a:solidFill>
                  <a:srgbClr val="0B1F3A"/>
                </a:solidFill>
                <a:latin typeface="Segoe UI"/>
              </a:rPr>
              <a:t>Conclusion</a:t>
            </a:r>
          </a:p>
        </p:txBody>
      </p:sp>
      <p:sp>
        <p:nvSpPr>
          <p:cNvPr id="6" name="Rectangle 5"/>
          <p:cNvSpPr/>
          <p:nvPr/>
        </p:nvSpPr>
        <p:spPr>
          <a:xfrm>
            <a:off x="658368" y="1316736"/>
            <a:ext cx="960120" cy="5029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81912"/>
            <a:ext cx="10881360" cy="457200"/>
          </a:xfrm>
          <a:prstGeom prst="rect">
            <a:avLst/>
          </a:prstGeom>
          <a:noFill/>
        </p:spPr>
        <p:txBody>
          <a:bodyPr wrap="square" lIns="0" tIns="0" rIns="0" bIns="0" anchor="t">
            <a:spAutoFit/>
          </a:bodyPr>
          <a:lstStyle/>
          <a:p>
            <a:pPr algn="l">
              <a:lnSpc>
                <a:spcPct val="100000"/>
              </a:lnSpc>
              <a:spcAft>
                <a:spcPts val="0"/>
              </a:spcAft>
            </a:pPr>
            <a:r>
              <a:rPr sz="1600" b="0">
                <a:solidFill>
                  <a:srgbClr val="5A6B82"/>
                </a:solidFill>
                <a:latin typeface="Segoe UI"/>
              </a:rPr>
              <a:t>EventFlow delivers a complete, role-aware mobile interface for event registration and attendance management.</a:t>
            </a:r>
          </a:p>
        </p:txBody>
      </p:sp>
      <p:sp>
        <p:nvSpPr>
          <p:cNvPr id="8" name="Rounded Rectangle 7"/>
          <p:cNvSpPr/>
          <p:nvPr/>
        </p:nvSpPr>
        <p:spPr>
          <a:xfrm>
            <a:off x="640080" y="2176272"/>
            <a:ext cx="5394960" cy="4023360"/>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176272"/>
            <a:ext cx="5394960" cy="82296"/>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19" y="2450592"/>
            <a:ext cx="4754880" cy="365760"/>
          </a:xfrm>
          <a:prstGeom prst="rect">
            <a:avLst/>
          </a:prstGeom>
          <a:noFill/>
        </p:spPr>
        <p:txBody>
          <a:bodyPr wrap="square" lIns="0" tIns="0" rIns="0" bIns="0" anchor="t">
            <a:spAutoFit/>
          </a:bodyPr>
          <a:lstStyle/>
          <a:p>
            <a:pPr algn="l">
              <a:lnSpc>
                <a:spcPct val="100000"/>
              </a:lnSpc>
              <a:spcAft>
                <a:spcPts val="0"/>
              </a:spcAft>
            </a:pPr>
            <a:r>
              <a:rPr sz="1700" b="1">
                <a:solidFill>
                  <a:srgbClr val="0274DF"/>
                </a:solidFill>
                <a:latin typeface="Segoe UI"/>
              </a:rPr>
              <a:t>What we achieved</a:t>
            </a:r>
          </a:p>
        </p:txBody>
      </p:sp>
      <p:sp>
        <p:nvSpPr>
          <p:cNvPr id="11" name="TextBox 10"/>
          <p:cNvSpPr txBox="1"/>
          <p:nvPr/>
        </p:nvSpPr>
        <p:spPr>
          <a:xfrm>
            <a:off x="960119" y="2953512"/>
            <a:ext cx="4800600" cy="3108960"/>
          </a:xfrm>
          <a:prstGeom prst="rect">
            <a:avLst/>
          </a:prstGeom>
          <a:noFill/>
        </p:spPr>
        <p:txBody>
          <a:bodyPr wrap="square" lIns="0" tIns="0" rIns="0" bIns="0">
            <a:spAutoFit/>
          </a:bodyPr>
          <a:lstStyle/>
          <a:p>
            <a:pPr>
              <a:lnSpc>
                <a:spcPct val="105000"/>
              </a:lnSpc>
              <a:spcAft>
                <a:spcPts val="1000"/>
              </a:spcAft>
            </a:pPr>
            <a:r>
              <a:rPr sz="1350" b="1">
                <a:solidFill>
                  <a:srgbClr val="0274DF"/>
                </a:solidFill>
                <a:latin typeface="Segoe UI"/>
              </a:rPr>
              <a:t>✓  </a:t>
            </a:r>
            <a:r>
              <a:rPr sz="1350" b="0">
                <a:solidFill>
                  <a:srgbClr val="12233D"/>
                </a:solidFill>
                <a:latin typeface="Segoe UI"/>
              </a:rPr>
              <a:t>All 17 screens built and connected</a:t>
            </a:r>
          </a:p>
          <a:p>
            <a:pPr>
              <a:lnSpc>
                <a:spcPct val="105000"/>
              </a:lnSpc>
              <a:spcAft>
                <a:spcPts val="1000"/>
              </a:spcAft>
            </a:pPr>
            <a:r>
              <a:rPr sz="1350" b="1">
                <a:solidFill>
                  <a:srgbClr val="0274DF"/>
                </a:solidFill>
                <a:latin typeface="Segoe UI"/>
              </a:rPr>
              <a:t>✓  </a:t>
            </a:r>
            <a:r>
              <a:rPr sz="1350" b="0">
                <a:solidFill>
                  <a:srgbClr val="12233D"/>
                </a:solidFill>
                <a:latin typeface="Segoe UI"/>
              </a:rPr>
              <a:t>Three roles with enforced permissions</a:t>
            </a:r>
          </a:p>
          <a:p>
            <a:pPr>
              <a:lnSpc>
                <a:spcPct val="105000"/>
              </a:lnSpc>
              <a:spcAft>
                <a:spcPts val="1000"/>
              </a:spcAft>
            </a:pPr>
            <a:r>
              <a:rPr sz="1350" b="1">
                <a:solidFill>
                  <a:srgbClr val="0274DF"/>
                </a:solidFill>
                <a:latin typeface="Segoe UI"/>
              </a:rPr>
              <a:t>✓  </a:t>
            </a:r>
            <a:r>
              <a:rPr sz="1350" b="0">
                <a:solidFill>
                  <a:srgbClr val="12233D"/>
                </a:solidFill>
                <a:latin typeface="Segoe UI"/>
              </a:rPr>
              <a:t>Full event lifecycle: create, edit, delete</a:t>
            </a:r>
          </a:p>
          <a:p>
            <a:pPr>
              <a:lnSpc>
                <a:spcPct val="105000"/>
              </a:lnSpc>
              <a:spcAft>
                <a:spcPts val="1000"/>
              </a:spcAft>
            </a:pPr>
            <a:r>
              <a:rPr sz="1350" b="1">
                <a:solidFill>
                  <a:srgbClr val="0274DF"/>
                </a:solidFill>
                <a:latin typeface="Segoe UI"/>
              </a:rPr>
              <a:t>✓  </a:t>
            </a:r>
            <a:r>
              <a:rPr sz="1350" b="0">
                <a:solidFill>
                  <a:srgbClr val="12233D"/>
                </a:solidFill>
                <a:latin typeface="Segoe UI"/>
              </a:rPr>
              <a:t>Registration with duplicate prevention</a:t>
            </a:r>
          </a:p>
          <a:p>
            <a:pPr>
              <a:lnSpc>
                <a:spcPct val="105000"/>
              </a:lnSpc>
              <a:spcAft>
                <a:spcPts val="1000"/>
              </a:spcAft>
            </a:pPr>
            <a:r>
              <a:rPr sz="1350" b="1">
                <a:solidFill>
                  <a:srgbClr val="0274DF"/>
                </a:solidFill>
                <a:latin typeface="Segoe UI"/>
              </a:rPr>
              <a:t>✓  </a:t>
            </a:r>
            <a:r>
              <a:rPr sz="1350" b="0">
                <a:solidFill>
                  <a:srgbClr val="12233D"/>
                </a:solidFill>
                <a:latin typeface="Segoe UI"/>
              </a:rPr>
              <a:t>QR check-in with attendance tracking</a:t>
            </a:r>
          </a:p>
          <a:p>
            <a:pPr>
              <a:lnSpc>
                <a:spcPct val="105000"/>
              </a:lnSpc>
              <a:spcAft>
                <a:spcPts val="1000"/>
              </a:spcAft>
            </a:pPr>
            <a:r>
              <a:rPr sz="1350" b="1">
                <a:solidFill>
                  <a:srgbClr val="0274DF"/>
                </a:solidFill>
                <a:latin typeface="Segoe UI"/>
              </a:rPr>
              <a:t>✓  </a:t>
            </a:r>
            <a:r>
              <a:rPr sz="1350" b="0">
                <a:solidFill>
                  <a:srgbClr val="12233D"/>
                </a:solidFill>
                <a:latin typeface="Segoe UI"/>
              </a:rPr>
              <a:t>Reports and user management</a:t>
            </a:r>
          </a:p>
          <a:p>
            <a:pPr>
              <a:lnSpc>
                <a:spcPct val="105000"/>
              </a:lnSpc>
              <a:spcAft>
                <a:spcPts val="1000"/>
              </a:spcAft>
            </a:pPr>
            <a:r>
              <a:rPr sz="1350" b="1">
                <a:solidFill>
                  <a:srgbClr val="0274DF"/>
                </a:solidFill>
                <a:latin typeface="Segoe UI"/>
              </a:rPr>
              <a:t>✓  </a:t>
            </a:r>
            <a:r>
              <a:rPr sz="1350" b="0">
                <a:solidFill>
                  <a:srgbClr val="12233D"/>
                </a:solidFill>
                <a:latin typeface="Segoe UI"/>
              </a:rPr>
              <a:t>Consistent, responsive UI design</a:t>
            </a:r>
          </a:p>
        </p:txBody>
      </p:sp>
      <p:sp>
        <p:nvSpPr>
          <p:cNvPr id="12" name="Rounded Rectangle 11"/>
          <p:cNvSpPr/>
          <p:nvPr/>
        </p:nvSpPr>
        <p:spPr>
          <a:xfrm>
            <a:off x="6309360" y="2176272"/>
            <a:ext cx="5394960" cy="4023360"/>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2176272"/>
            <a:ext cx="5394960" cy="82296"/>
          </a:xfrm>
          <a:prstGeom prst="rect">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2450592"/>
            <a:ext cx="4754880" cy="365760"/>
          </a:xfrm>
          <a:prstGeom prst="rect">
            <a:avLst/>
          </a:prstGeom>
          <a:noFill/>
        </p:spPr>
        <p:txBody>
          <a:bodyPr wrap="square" lIns="0" tIns="0" rIns="0" bIns="0" anchor="t">
            <a:spAutoFit/>
          </a:bodyPr>
          <a:lstStyle/>
          <a:p>
            <a:pPr algn="l">
              <a:lnSpc>
                <a:spcPct val="100000"/>
              </a:lnSpc>
              <a:spcAft>
                <a:spcPts val="0"/>
              </a:spcAft>
            </a:pPr>
            <a:r>
              <a:rPr sz="1700" b="1">
                <a:solidFill>
                  <a:srgbClr val="0B7A4B"/>
                </a:solidFill>
                <a:latin typeface="Segoe UI"/>
              </a:rPr>
              <a:t>Why it matters</a:t>
            </a:r>
          </a:p>
        </p:txBody>
      </p:sp>
      <p:sp>
        <p:nvSpPr>
          <p:cNvPr id="15" name="TextBox 14"/>
          <p:cNvSpPr txBox="1"/>
          <p:nvPr/>
        </p:nvSpPr>
        <p:spPr>
          <a:xfrm>
            <a:off x="6629400" y="2953512"/>
            <a:ext cx="4800600" cy="3108960"/>
          </a:xfrm>
          <a:prstGeom prst="rect">
            <a:avLst/>
          </a:prstGeom>
          <a:noFill/>
        </p:spPr>
        <p:txBody>
          <a:bodyPr wrap="square" lIns="0" tIns="0" rIns="0" bIns="0">
            <a:spAutoFit/>
          </a:bodyPr>
          <a:lstStyle/>
          <a:p>
            <a:pPr>
              <a:lnSpc>
                <a:spcPct val="105000"/>
              </a:lnSpc>
              <a:spcAft>
                <a:spcPts val="1000"/>
              </a:spcAft>
            </a:pPr>
            <a:r>
              <a:rPr sz="1350" b="1">
                <a:solidFill>
                  <a:srgbClr val="0B7A4B"/>
                </a:solidFill>
                <a:latin typeface="Segoe UI"/>
              </a:rPr>
              <a:t>✓  </a:t>
            </a:r>
            <a:r>
              <a:rPr sz="1350" b="0">
                <a:solidFill>
                  <a:srgbClr val="12233D"/>
                </a:solidFill>
                <a:latin typeface="Segoe UI"/>
              </a:rPr>
              <a:t>Replaces paper sign-in sheets</a:t>
            </a:r>
          </a:p>
          <a:p>
            <a:pPr>
              <a:lnSpc>
                <a:spcPct val="105000"/>
              </a:lnSpc>
              <a:spcAft>
                <a:spcPts val="1000"/>
              </a:spcAft>
            </a:pPr>
            <a:r>
              <a:rPr sz="1350" b="1">
                <a:solidFill>
                  <a:srgbClr val="0B7A4B"/>
                </a:solidFill>
                <a:latin typeface="Segoe UI"/>
              </a:rPr>
              <a:t>✓  </a:t>
            </a:r>
            <a:r>
              <a:rPr sz="1350" b="0">
                <a:solidFill>
                  <a:srgbClr val="12233D"/>
                </a:solidFill>
                <a:latin typeface="Segoe UI"/>
              </a:rPr>
              <a:t>Removes long registration queues</a:t>
            </a:r>
          </a:p>
          <a:p>
            <a:pPr>
              <a:lnSpc>
                <a:spcPct val="105000"/>
              </a:lnSpc>
              <a:spcAft>
                <a:spcPts val="1000"/>
              </a:spcAft>
            </a:pPr>
            <a:r>
              <a:rPr sz="1350" b="1">
                <a:solidFill>
                  <a:srgbClr val="0B7A4B"/>
                </a:solidFill>
                <a:latin typeface="Segoe UI"/>
              </a:rPr>
              <a:t>✓  </a:t>
            </a:r>
            <a:r>
              <a:rPr sz="1350" b="0">
                <a:solidFill>
                  <a:srgbClr val="12233D"/>
                </a:solidFill>
                <a:latin typeface="Segoe UI"/>
              </a:rPr>
              <a:t>Gives a reliable attendance record</a:t>
            </a:r>
          </a:p>
          <a:p>
            <a:pPr>
              <a:lnSpc>
                <a:spcPct val="105000"/>
              </a:lnSpc>
              <a:spcAft>
                <a:spcPts val="1000"/>
              </a:spcAft>
            </a:pPr>
            <a:r>
              <a:rPr sz="1350" b="1">
                <a:solidFill>
                  <a:srgbClr val="0B7A4B"/>
                </a:solidFill>
                <a:latin typeface="Segoe UI"/>
              </a:rPr>
              <a:t>✓  </a:t>
            </a:r>
            <a:r>
              <a:rPr sz="1350" b="0">
                <a:solidFill>
                  <a:srgbClr val="12233D"/>
                </a:solidFill>
                <a:latin typeface="Segoe UI"/>
              </a:rPr>
              <a:t>Participants keep proof of check-in</a:t>
            </a:r>
          </a:p>
          <a:p>
            <a:pPr>
              <a:lnSpc>
                <a:spcPct val="105000"/>
              </a:lnSpc>
              <a:spcAft>
                <a:spcPts val="1000"/>
              </a:spcAft>
            </a:pPr>
            <a:r>
              <a:rPr sz="1350" b="1">
                <a:solidFill>
                  <a:srgbClr val="0B7A4B"/>
                </a:solidFill>
                <a:latin typeface="Segoe UI"/>
              </a:rPr>
              <a:t>✓  </a:t>
            </a:r>
            <a:r>
              <a:rPr sz="1350" b="0">
                <a:solidFill>
                  <a:srgbClr val="12233D"/>
                </a:solidFill>
                <a:latin typeface="Segoe UI"/>
              </a:rPr>
              <a:t>Organizers get instant summaries</a:t>
            </a:r>
          </a:p>
          <a:p>
            <a:pPr>
              <a:lnSpc>
                <a:spcPct val="105000"/>
              </a:lnSpc>
              <a:spcAft>
                <a:spcPts val="1000"/>
              </a:spcAft>
            </a:pPr>
            <a:r>
              <a:rPr sz="1350" b="1">
                <a:solidFill>
                  <a:srgbClr val="0B7A4B"/>
                </a:solidFill>
                <a:latin typeface="Segoe UI"/>
              </a:rPr>
              <a:t>✓  </a:t>
            </a:r>
            <a:r>
              <a:rPr sz="1350" b="0">
                <a:solidFill>
                  <a:srgbClr val="12233D"/>
                </a:solidFill>
                <a:latin typeface="Segoe UI"/>
              </a:rPr>
              <a:t>One app for three user roles</a:t>
            </a:r>
          </a:p>
        </p:txBody>
      </p:sp>
      <p:sp>
        <p:nvSpPr>
          <p:cNvPr id="16" name="TextBox 15"/>
          <p:cNvSpPr txBox="1"/>
          <p:nvPr/>
        </p:nvSpPr>
        <p:spPr>
          <a:xfrm>
            <a:off x="640080" y="6455664"/>
            <a:ext cx="8229600" cy="274320"/>
          </a:xfrm>
          <a:prstGeom prst="rect">
            <a:avLst/>
          </a:prstGeom>
          <a:noFill/>
        </p:spPr>
        <p:txBody>
          <a:bodyPr wrap="square" lIns="0" tIns="0" rIns="0" bIns="0" anchor="t">
            <a:spAutoFit/>
          </a:bodyPr>
          <a:lstStyle/>
          <a:p>
            <a:pPr algn="l">
              <a:lnSpc>
                <a:spcPct val="100000"/>
              </a:lnSpc>
              <a:spcAft>
                <a:spcPts val="0"/>
              </a:spcAft>
            </a:pPr>
            <a:r>
              <a:rPr sz="900" b="0">
                <a:solidFill>
                  <a:srgbClr val="5A6B82"/>
                </a:solidFill>
                <a:latin typeface="Segoe UI"/>
              </a:rPr>
              <a:t>EventFlow  ·  Midterm Project  ·  BS Information System</a:t>
            </a:r>
          </a:p>
        </p:txBody>
      </p:sp>
      <p:sp>
        <p:nvSpPr>
          <p:cNvPr id="17" name="TextBox 16"/>
          <p:cNvSpPr txBox="1"/>
          <p:nvPr/>
        </p:nvSpPr>
        <p:spPr>
          <a:xfrm>
            <a:off x="10607040" y="6455664"/>
            <a:ext cx="960120" cy="274320"/>
          </a:xfrm>
          <a:prstGeom prst="rect">
            <a:avLst/>
          </a:prstGeom>
          <a:noFill/>
        </p:spPr>
        <p:txBody>
          <a:bodyPr wrap="square" lIns="0" tIns="0" rIns="0" bIns="0" anchor="t">
            <a:spAutoFit/>
          </a:bodyPr>
          <a:lstStyle/>
          <a:p>
            <a:pPr algn="r">
              <a:lnSpc>
                <a:spcPct val="100000"/>
              </a:lnSpc>
              <a:spcAft>
                <a:spcPts val="0"/>
              </a:spcAft>
            </a:pPr>
            <a:r>
              <a:rPr sz="900" b="0">
                <a:solidFill>
                  <a:srgbClr val="5A6B82"/>
                </a:solidFill>
                <a:latin typeface="Segoe UI"/>
              </a:rPr>
              <a:t>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35440" y="-548640"/>
            <a:ext cx="3291840" cy="3291840"/>
          </a:xfrm>
          <a:prstGeom prst="ellipse">
            <a:avLst/>
          </a:prstGeom>
          <a:solidFill>
            <a:srgbClr val="0F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57200" y="4663440"/>
            <a:ext cx="2743200" cy="2743200"/>
          </a:xfrm>
          <a:prstGeom prst="ellipse">
            <a:avLst/>
          </a:prstGeom>
          <a:solidFill>
            <a:srgbClr val="0A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6048" y="1600200"/>
            <a:ext cx="640080" cy="640080"/>
          </a:xfrm>
          <a:prstGeom prst="roundRect">
            <a:avLst>
              <a:gd name="adj" fmla="val 22000"/>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56048" y="1709928"/>
            <a:ext cx="640080" cy="457200"/>
          </a:xfrm>
          <a:prstGeom prst="rect">
            <a:avLst/>
          </a:prstGeom>
          <a:noFill/>
        </p:spPr>
        <p:txBody>
          <a:bodyPr wrap="square" lIns="0" tIns="0" rIns="0" bIns="0" anchor="t">
            <a:spAutoFit/>
          </a:bodyPr>
          <a:lstStyle/>
          <a:p>
            <a:pPr algn="ctr">
              <a:lnSpc>
                <a:spcPct val="100000"/>
              </a:lnSpc>
              <a:spcAft>
                <a:spcPts val="0"/>
              </a:spcAft>
            </a:pPr>
            <a:r>
              <a:rPr sz="2000" b="1">
                <a:solidFill>
                  <a:srgbClr val="FFFFFF"/>
                </a:solidFill>
                <a:latin typeface="Segoe UI"/>
              </a:rPr>
              <a:t>EF</a:t>
            </a:r>
          </a:p>
        </p:txBody>
      </p:sp>
      <p:sp>
        <p:nvSpPr>
          <p:cNvPr id="8" name="TextBox 7"/>
          <p:cNvSpPr txBox="1"/>
          <p:nvPr/>
        </p:nvSpPr>
        <p:spPr>
          <a:xfrm>
            <a:off x="0" y="2514600"/>
            <a:ext cx="12191695" cy="914400"/>
          </a:xfrm>
          <a:prstGeom prst="rect">
            <a:avLst/>
          </a:prstGeom>
          <a:noFill/>
        </p:spPr>
        <p:txBody>
          <a:bodyPr wrap="square" lIns="0" tIns="0" rIns="0" bIns="0" anchor="t">
            <a:spAutoFit/>
          </a:bodyPr>
          <a:lstStyle/>
          <a:p>
            <a:pPr algn="ctr">
              <a:lnSpc>
                <a:spcPct val="100000"/>
              </a:lnSpc>
              <a:spcAft>
                <a:spcPts val="0"/>
              </a:spcAft>
            </a:pPr>
            <a:r>
              <a:rPr sz="5400" b="1">
                <a:solidFill>
                  <a:srgbClr val="FFFFFF"/>
                </a:solidFill>
                <a:latin typeface="Segoe UI"/>
              </a:rPr>
              <a:t>Thank You</a:t>
            </a:r>
          </a:p>
        </p:txBody>
      </p:sp>
      <p:sp>
        <p:nvSpPr>
          <p:cNvPr id="9" name="TextBox 8"/>
          <p:cNvSpPr txBox="1"/>
          <p:nvPr/>
        </p:nvSpPr>
        <p:spPr>
          <a:xfrm>
            <a:off x="0" y="3429000"/>
            <a:ext cx="12191695" cy="457200"/>
          </a:xfrm>
          <a:prstGeom prst="rect">
            <a:avLst/>
          </a:prstGeom>
          <a:noFill/>
        </p:spPr>
        <p:txBody>
          <a:bodyPr wrap="square" lIns="0" tIns="0" rIns="0" bIns="0" anchor="t">
            <a:spAutoFit/>
          </a:bodyPr>
          <a:lstStyle/>
          <a:p>
            <a:pPr algn="ctr">
              <a:lnSpc>
                <a:spcPct val="100000"/>
              </a:lnSpc>
              <a:spcAft>
                <a:spcPts val="0"/>
              </a:spcAft>
            </a:pPr>
            <a:r>
              <a:rPr sz="2000" b="0">
                <a:solidFill>
                  <a:srgbClr val="8CC2F0"/>
                </a:solidFill>
                <a:latin typeface="Segoe UI"/>
              </a:rPr>
              <a:t>Questions &amp; Answers</a:t>
            </a:r>
          </a:p>
        </p:txBody>
      </p:sp>
      <p:sp>
        <p:nvSpPr>
          <p:cNvPr id="10" name="Rectangle 9"/>
          <p:cNvSpPr/>
          <p:nvPr/>
        </p:nvSpPr>
        <p:spPr>
          <a:xfrm>
            <a:off x="5364327" y="4114800"/>
            <a:ext cx="1463040" cy="5486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0" y="4434840"/>
            <a:ext cx="12191695" cy="899029"/>
          </a:xfrm>
          <a:prstGeom prst="rect">
            <a:avLst/>
          </a:prstGeom>
          <a:noFill/>
        </p:spPr>
        <p:txBody>
          <a:bodyPr wrap="square" lIns="0" tIns="0" rIns="0" bIns="0" anchor="t">
            <a:spAutoFit/>
          </a:bodyPr>
          <a:lstStyle/>
          <a:p>
            <a:pPr algn="ctr">
              <a:lnSpc>
                <a:spcPct val="150000"/>
              </a:lnSpc>
              <a:spcAft>
                <a:spcPts val="0"/>
              </a:spcAft>
            </a:pPr>
            <a:r>
              <a:rPr sz="1500" b="1" dirty="0" err="1">
                <a:solidFill>
                  <a:srgbClr val="FFFFFF"/>
                </a:solidFill>
                <a:latin typeface="Segoe UI"/>
              </a:rPr>
              <a:t>EventFlow</a:t>
            </a:r>
            <a:endParaRPr sz="1500" b="1" dirty="0">
              <a:solidFill>
                <a:srgbClr val="FFFFFF"/>
              </a:solidFill>
              <a:latin typeface="Segoe UI"/>
            </a:endParaRPr>
          </a:p>
          <a:p>
            <a:pPr algn="ctr">
              <a:lnSpc>
                <a:spcPct val="150000"/>
              </a:lnSpc>
              <a:spcAft>
                <a:spcPts val="0"/>
              </a:spcAft>
            </a:pPr>
            <a:r>
              <a:rPr sz="1300" b="0" dirty="0">
                <a:solidFill>
                  <a:srgbClr val="8CC2F0"/>
                </a:solidFill>
                <a:latin typeface="Segoe UI"/>
              </a:rPr>
              <a:t>BS Information System</a:t>
            </a:r>
          </a:p>
          <a:p>
            <a:pPr algn="ctr">
              <a:lnSpc>
                <a:spcPct val="150000"/>
              </a:lnSpc>
              <a:spcAft>
                <a:spcPts val="0"/>
              </a:spcAft>
            </a:pPr>
            <a:r>
              <a:rPr sz="1250" b="0" dirty="0">
                <a:solidFill>
                  <a:srgbClr val="8CC2F0"/>
                </a:solidFill>
                <a:latin typeface="Segoe UI"/>
              </a:rPr>
              <a:t>Marian </a:t>
            </a:r>
            <a:r>
              <a:rPr sz="1250" b="0" dirty="0" err="1">
                <a:solidFill>
                  <a:srgbClr val="8CC2F0"/>
                </a:solidFill>
                <a:latin typeface="Segoe UI"/>
              </a:rPr>
              <a:t>Muit</a:t>
            </a:r>
            <a:r>
              <a:rPr sz="1250" b="0" dirty="0">
                <a:solidFill>
                  <a:srgbClr val="8CC2F0"/>
                </a:solidFill>
                <a:latin typeface="Segoe UI"/>
              </a:rPr>
              <a:t>  ·  John Harvy Baje  ·  Dave Archie </a:t>
            </a:r>
            <a:r>
              <a:rPr sz="1250" b="0" dirty="0" err="1">
                <a:solidFill>
                  <a:srgbClr val="8CC2F0"/>
                </a:solidFill>
                <a:latin typeface="Segoe UI"/>
              </a:rPr>
              <a:t>Magsayo</a:t>
            </a:r>
            <a:endParaRPr sz="1250" b="0" dirty="0">
              <a:solidFill>
                <a:srgbClr val="8CC2F0"/>
              </a:solidFill>
              <a:latin typeface="Segoe UI"/>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4630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274320"/>
          </a:xfrm>
          <a:prstGeom prst="rect">
            <a:avLst/>
          </a:prstGeom>
          <a:noFill/>
        </p:spPr>
        <p:txBody>
          <a:bodyPr wrap="square" lIns="0" rIns="0" tIns="0" bIns="0">
            <a:spAutoFit/>
          </a:bodyPr>
          <a:lstStyle/>
          <a:p>
            <a:r>
              <a:rPr sz="1100" b="1">
                <a:solidFill>
                  <a:srgbClr val="0274DF"/>
                </a:solidFill>
                <a:latin typeface="Segoe UI"/>
              </a:rPr>
              <a:t>PROJECT SCOPE</a:t>
            </a:r>
          </a:p>
        </p:txBody>
      </p:sp>
      <p:sp>
        <p:nvSpPr>
          <p:cNvPr id="5" name="TextBox 4"/>
          <p:cNvSpPr txBox="1"/>
          <p:nvPr/>
        </p:nvSpPr>
        <p:spPr>
          <a:xfrm>
            <a:off x="640080" y="713232"/>
            <a:ext cx="10881360" cy="685800"/>
          </a:xfrm>
          <a:prstGeom prst="rect">
            <a:avLst/>
          </a:prstGeom>
          <a:noFill/>
        </p:spPr>
        <p:txBody>
          <a:bodyPr wrap="square" lIns="0" rIns="0" tIns="0" bIns="0">
            <a:spAutoFit/>
          </a:bodyPr>
          <a:lstStyle/>
          <a:p>
            <a:r>
              <a:rPr sz="3000" b="1">
                <a:solidFill>
                  <a:srgbClr val="0B1F3A"/>
                </a:solidFill>
                <a:latin typeface="Segoe UI"/>
              </a:rPr>
              <a:t>Project Scope</a:t>
            </a:r>
          </a:p>
        </p:txBody>
      </p:sp>
      <p:sp>
        <p:nvSpPr>
          <p:cNvPr id="6" name="Rectangle 5"/>
          <p:cNvSpPr/>
          <p:nvPr/>
        </p:nvSpPr>
        <p:spPr>
          <a:xfrm>
            <a:off x="658368" y="1316736"/>
            <a:ext cx="960120" cy="54864"/>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81328"/>
            <a:ext cx="10881360" cy="502920"/>
          </a:xfrm>
          <a:prstGeom prst="rect">
            <a:avLst/>
          </a:prstGeom>
          <a:noFill/>
        </p:spPr>
        <p:txBody>
          <a:bodyPr wrap="square" lIns="0" rIns="0" tIns="0" bIns="0">
            <a:spAutoFit/>
          </a:bodyPr>
          <a:lstStyle/>
          <a:p>
            <a:pPr>
              <a:lnSpc>
                <a:spcPct val="115000"/>
              </a:lnSpc>
            </a:pPr>
            <a:r>
              <a:rPr sz="1600" b="0">
                <a:solidFill>
                  <a:srgbClr val="5A6B82"/>
                </a:solidFill>
                <a:latin typeface="Segoe UI"/>
              </a:rPr>
              <a:t>EventFlow is a React Native mobile application built with Expo to support event management, participant registration, and attendance monitoring.</a:t>
            </a:r>
          </a:p>
        </p:txBody>
      </p:sp>
      <p:sp>
        <p:nvSpPr>
          <p:cNvPr id="8" name="Rounded Rectangle 7"/>
          <p:cNvSpPr/>
          <p:nvPr/>
        </p:nvSpPr>
        <p:spPr>
          <a:xfrm>
            <a:off x="640080" y="2139696"/>
            <a:ext cx="5349240" cy="3218688"/>
          </a:xfrm>
          <a:prstGeom prst="roundRect">
            <a:avLst>
              <a:gd name="adj" fmla="val 5000"/>
            </a:avLst>
          </a:prstGeom>
          <a:solidFill>
            <a:srgbClr val="F6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39696"/>
            <a:ext cx="64008" cy="321868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377439"/>
            <a:ext cx="4800600" cy="384048"/>
          </a:xfrm>
          <a:prstGeom prst="rect">
            <a:avLst/>
          </a:prstGeom>
          <a:noFill/>
        </p:spPr>
        <p:txBody>
          <a:bodyPr wrap="square" lIns="0" rIns="0" tIns="0" bIns="0">
            <a:spAutoFit/>
          </a:bodyPr>
          <a:lstStyle/>
          <a:p>
            <a:r>
              <a:rPr sz="1700" b="1">
                <a:solidFill>
                  <a:srgbClr val="0B1F3A"/>
                </a:solidFill>
                <a:latin typeface="Segoe UI"/>
              </a:rPr>
              <a:t>What the Application Does</a:t>
            </a:r>
          </a:p>
        </p:txBody>
      </p:sp>
      <p:sp>
        <p:nvSpPr>
          <p:cNvPr id="11" name="TextBox 10"/>
          <p:cNvSpPr txBox="1"/>
          <p:nvPr/>
        </p:nvSpPr>
        <p:spPr>
          <a:xfrm>
            <a:off x="941832" y="2889503"/>
            <a:ext cx="4782312" cy="2258568"/>
          </a:xfrm>
          <a:prstGeom prst="rect">
            <a:avLst/>
          </a:prstGeom>
          <a:noFill/>
        </p:spPr>
        <p:txBody>
          <a:bodyPr wrap="square" lIns="0" rIns="0" tIns="0" bIns="0">
            <a:spAutoFit/>
          </a:bodyPr>
          <a:lstStyle/>
          <a:p>
            <a:pPr>
              <a:lnSpc>
                <a:spcPct val="105000"/>
              </a:lnSpc>
              <a:spcAft>
                <a:spcPts val="900"/>
              </a:spcAft>
            </a:pPr>
            <a:r>
              <a:rPr sz="1300" b="1">
                <a:solidFill>
                  <a:srgbClr val="0274DF"/>
                </a:solidFill>
                <a:latin typeface="Segoe UI"/>
              </a:rPr>
              <a:t>▪  </a:t>
            </a:r>
            <a:r>
              <a:rPr sz="1300" b="0">
                <a:solidFill>
                  <a:srgbClr val="12233D"/>
                </a:solidFill>
                <a:latin typeface="Segoe UI"/>
              </a:rPr>
              <a:t>Three roles: Admin / Organizer, Staff / Assistant, Participant / Attendee</a:t>
            </a:r>
          </a:p>
          <a:p>
            <a:pPr>
              <a:lnSpc>
                <a:spcPct val="105000"/>
              </a:lnSpc>
              <a:spcAft>
                <a:spcPts val="900"/>
              </a:spcAft>
            </a:pPr>
            <a:r>
              <a:rPr sz="1300" b="1">
                <a:solidFill>
                  <a:srgbClr val="0274DF"/>
                </a:solidFill>
                <a:latin typeface="Segoe UI"/>
              </a:rPr>
              <a:t>▪  </a:t>
            </a:r>
            <a:r>
              <a:rPr sz="1300" b="0">
                <a:solidFill>
                  <a:srgbClr val="12233D"/>
                </a:solidFill>
                <a:latin typeface="Segoe UI"/>
              </a:rPr>
              <a:t>Admin creates, edits, and deletes events</a:t>
            </a:r>
          </a:p>
          <a:p>
            <a:pPr>
              <a:lnSpc>
                <a:spcPct val="105000"/>
              </a:lnSpc>
              <a:spcAft>
                <a:spcPts val="900"/>
              </a:spcAft>
            </a:pPr>
            <a:r>
              <a:rPr sz="1300" b="1">
                <a:solidFill>
                  <a:srgbClr val="0274DF"/>
                </a:solidFill>
                <a:latin typeface="Segoe UI"/>
              </a:rPr>
              <a:t>▪  </a:t>
            </a:r>
            <a:r>
              <a:rPr sz="1300" b="0">
                <a:solidFill>
                  <a:srgbClr val="12233D"/>
                </a:solidFill>
                <a:latin typeface="Segoe UI"/>
              </a:rPr>
              <a:t>Participants browse events and register for their chosen events</a:t>
            </a:r>
          </a:p>
          <a:p>
            <a:pPr>
              <a:lnSpc>
                <a:spcPct val="105000"/>
              </a:lnSpc>
              <a:spcAft>
                <a:spcPts val="900"/>
              </a:spcAft>
            </a:pPr>
            <a:r>
              <a:rPr sz="1300" b="1">
                <a:solidFill>
                  <a:srgbClr val="0274DF"/>
                </a:solidFill>
                <a:latin typeface="Segoe UI"/>
              </a:rPr>
              <a:t>▪  </a:t>
            </a:r>
            <a:r>
              <a:rPr sz="1300" b="0">
                <a:solidFill>
                  <a:srgbClr val="12233D"/>
                </a:solidFill>
                <a:latin typeface="Segoe UI"/>
              </a:rPr>
              <a:t>Staff verify participants and record attendance via a simulated check-in</a:t>
            </a:r>
          </a:p>
          <a:p>
            <a:pPr>
              <a:lnSpc>
                <a:spcPct val="105000"/>
              </a:lnSpc>
              <a:spcAft>
                <a:spcPts val="900"/>
              </a:spcAft>
            </a:pPr>
            <a:r>
              <a:rPr sz="1300" b="1">
                <a:solidFill>
                  <a:srgbClr val="0274DF"/>
                </a:solidFill>
                <a:latin typeface="Segoe UI"/>
              </a:rPr>
              <a:t>▪  </a:t>
            </a:r>
            <a:r>
              <a:rPr sz="1300" b="0">
                <a:solidFill>
                  <a:srgbClr val="12233D"/>
                </a:solidFill>
                <a:latin typeface="Segoe UI"/>
              </a:rPr>
              <a:t>Event info, participant lists, attendance views, and report screens</a:t>
            </a:r>
          </a:p>
        </p:txBody>
      </p:sp>
      <p:sp>
        <p:nvSpPr>
          <p:cNvPr id="12" name="Rounded Rectangle 11"/>
          <p:cNvSpPr/>
          <p:nvPr/>
        </p:nvSpPr>
        <p:spPr>
          <a:xfrm>
            <a:off x="6172200" y="2139696"/>
            <a:ext cx="5349240" cy="3218688"/>
          </a:xfrm>
          <a:prstGeom prst="roundRect">
            <a:avLst>
              <a:gd name="adj" fmla="val 5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2139696"/>
            <a:ext cx="64008" cy="3218688"/>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377439"/>
            <a:ext cx="4800600" cy="384048"/>
          </a:xfrm>
          <a:prstGeom prst="rect">
            <a:avLst/>
          </a:prstGeom>
          <a:noFill/>
        </p:spPr>
        <p:txBody>
          <a:bodyPr wrap="square" lIns="0" rIns="0" tIns="0" bIns="0">
            <a:spAutoFit/>
          </a:bodyPr>
          <a:lstStyle/>
          <a:p>
            <a:r>
              <a:rPr sz="1700" b="1">
                <a:solidFill>
                  <a:srgbClr val="0B1F3A"/>
                </a:solidFill>
                <a:latin typeface="Segoe UI"/>
              </a:rPr>
              <a:t>Current Implementation</a:t>
            </a:r>
          </a:p>
        </p:txBody>
      </p:sp>
      <p:sp>
        <p:nvSpPr>
          <p:cNvPr id="15" name="TextBox 14"/>
          <p:cNvSpPr txBox="1"/>
          <p:nvPr/>
        </p:nvSpPr>
        <p:spPr>
          <a:xfrm>
            <a:off x="6473952" y="2889503"/>
            <a:ext cx="4782312" cy="2258568"/>
          </a:xfrm>
          <a:prstGeom prst="rect">
            <a:avLst/>
          </a:prstGeom>
          <a:noFill/>
        </p:spPr>
        <p:txBody>
          <a:bodyPr wrap="square" lIns="0" rIns="0" tIns="0" bIns="0">
            <a:spAutoFit/>
          </a:bodyPr>
          <a:lstStyle/>
          <a:p>
            <a:pPr>
              <a:lnSpc>
                <a:spcPct val="105000"/>
              </a:lnSpc>
              <a:spcAft>
                <a:spcPts val="900"/>
              </a:spcAft>
            </a:pPr>
            <a:r>
              <a:rPr sz="1300" b="1">
                <a:solidFill>
                  <a:srgbClr val="0274DF"/>
                </a:solidFill>
                <a:latin typeface="Segoe UI"/>
              </a:rPr>
              <a:t>▪  </a:t>
            </a:r>
            <a:r>
              <a:rPr sz="1300" b="0">
                <a:solidFill>
                  <a:srgbClr val="12233D"/>
                </a:solidFill>
                <a:latin typeface="Segoe UI"/>
              </a:rPr>
              <a:t>A frontend prototype using sample data and in-memory state</a:t>
            </a:r>
          </a:p>
          <a:p>
            <a:pPr>
              <a:lnSpc>
                <a:spcPct val="105000"/>
              </a:lnSpc>
              <a:spcAft>
                <a:spcPts val="900"/>
              </a:spcAft>
            </a:pPr>
            <a:r>
              <a:rPr sz="1300" b="1">
                <a:solidFill>
                  <a:srgbClr val="0274DF"/>
                </a:solidFill>
                <a:latin typeface="Segoe UI"/>
              </a:rPr>
              <a:t>▪  </a:t>
            </a:r>
            <a:r>
              <a:rPr sz="1300" b="0">
                <a:solidFill>
                  <a:srgbClr val="12233D"/>
                </a:solidFill>
                <a:latin typeface="Segoe UI"/>
              </a:rPr>
              <a:t>No persistent database storage yet</a:t>
            </a:r>
          </a:p>
          <a:p>
            <a:pPr>
              <a:lnSpc>
                <a:spcPct val="105000"/>
              </a:lnSpc>
              <a:spcAft>
                <a:spcPts val="900"/>
              </a:spcAft>
            </a:pPr>
            <a:r>
              <a:rPr sz="1300" b="1">
                <a:solidFill>
                  <a:srgbClr val="0274DF"/>
                </a:solidFill>
                <a:latin typeface="Segoe UI"/>
              </a:rPr>
              <a:t>▪  </a:t>
            </a:r>
            <a:r>
              <a:rPr sz="1300" b="0">
                <a:solidFill>
                  <a:srgbClr val="12233D"/>
                </a:solidFill>
                <a:latin typeface="Segoe UI"/>
              </a:rPr>
              <a:t>No real authentication yet</a:t>
            </a:r>
          </a:p>
          <a:p>
            <a:pPr>
              <a:lnSpc>
                <a:spcPct val="105000"/>
              </a:lnSpc>
              <a:spcAft>
                <a:spcPts val="900"/>
              </a:spcAft>
            </a:pPr>
            <a:r>
              <a:rPr sz="1300" b="1">
                <a:solidFill>
                  <a:srgbClr val="0274DF"/>
                </a:solidFill>
                <a:latin typeface="Segoe UI"/>
              </a:rPr>
              <a:t>▪  </a:t>
            </a:r>
            <a:r>
              <a:rPr sz="1300" b="0">
                <a:solidFill>
                  <a:srgbClr val="12233D"/>
                </a:solidFill>
                <a:latin typeface="Segoe UI"/>
              </a:rPr>
              <a:t>No camera-based QR scanning yet</a:t>
            </a:r>
          </a:p>
          <a:p>
            <a:pPr>
              <a:lnSpc>
                <a:spcPct val="105000"/>
              </a:lnSpc>
              <a:spcAft>
                <a:spcPts val="900"/>
              </a:spcAft>
            </a:pPr>
            <a:r>
              <a:rPr sz="1300" b="1">
                <a:solidFill>
                  <a:srgbClr val="0274DF"/>
                </a:solidFill>
                <a:latin typeface="Segoe UI"/>
              </a:rPr>
              <a:t>▪  </a:t>
            </a:r>
            <a:r>
              <a:rPr sz="1300" b="0">
                <a:solidFill>
                  <a:srgbClr val="12233D"/>
                </a:solidFill>
                <a:latin typeface="Segoe UI"/>
              </a:rPr>
              <a:t>No functional report export yet</a:t>
            </a:r>
          </a:p>
        </p:txBody>
      </p:sp>
      <p:sp>
        <p:nvSpPr>
          <p:cNvPr id="16" name="Rounded Rectangle 15"/>
          <p:cNvSpPr/>
          <p:nvPr/>
        </p:nvSpPr>
        <p:spPr>
          <a:xfrm>
            <a:off x="640080" y="5541264"/>
            <a:ext cx="10881360" cy="713232"/>
          </a:xfrm>
          <a:prstGeom prst="roundRect">
            <a:avLst>
              <a:gd name="adj" fmla="val 10000"/>
            </a:avLst>
          </a:prstGeom>
          <a:solidFill>
            <a:srgbClr val="E8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41264"/>
            <a:ext cx="64008" cy="713232"/>
          </a:xfrm>
          <a:prstGeom prst="rect">
            <a:avLst/>
          </a:prstGeom>
          <a:solidFill>
            <a:srgbClr val="027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69279"/>
            <a:ext cx="10332720" cy="475488"/>
          </a:xfrm>
          <a:prstGeom prst="rect">
            <a:avLst/>
          </a:prstGeom>
          <a:noFill/>
        </p:spPr>
        <p:txBody>
          <a:bodyPr wrap="square" lIns="0" rIns="0" tIns="0" bIns="0">
            <a:spAutoFit/>
          </a:bodyPr>
          <a:lstStyle/>
          <a:p>
            <a:pPr>
              <a:lnSpc>
                <a:spcPct val="105000"/>
              </a:lnSpc>
            </a:pPr>
            <a:r>
              <a:rPr sz="1350" b="1">
                <a:solidFill>
                  <a:srgbClr val="0274DF"/>
                </a:solidFill>
                <a:latin typeface="Segoe UI"/>
              </a:rPr>
              <a:t>Focus:  </a:t>
            </a:r>
            <a:r>
              <a:rPr sz="1350" b="0">
                <a:solidFill>
                  <a:srgbClr val="12233D"/>
                </a:solidFill>
                <a:latin typeface="Segoe UI"/>
              </a:rPr>
              <a:t>demonstrating the user interface, navigation, event registration workflow, role-based access, and the attendance-management process.</a:t>
            </a:r>
          </a:p>
        </p:txBody>
      </p:sp>
      <p:sp>
        <p:nvSpPr>
          <p:cNvPr id="19" name="TextBox 18"/>
          <p:cNvSpPr txBox="1"/>
          <p:nvPr/>
        </p:nvSpPr>
        <p:spPr>
          <a:xfrm>
            <a:off x="640080" y="6455664"/>
            <a:ext cx="8229600" cy="274320"/>
          </a:xfrm>
          <a:prstGeom prst="rect">
            <a:avLst/>
          </a:prstGeom>
          <a:noFill/>
        </p:spPr>
        <p:txBody>
          <a:bodyPr wrap="square" lIns="0" rIns="0" tIns="0" bIns="0">
            <a:spAutoFit/>
          </a:bodyPr>
          <a:lstStyle/>
          <a:p>
            <a:r>
              <a:rPr sz="900" b="0">
                <a:solidFill>
                  <a:srgbClr val="5A6B82"/>
                </a:solidFill>
                <a:latin typeface="Segoe UI"/>
              </a:rPr>
              <a:t>EventFlow  ·  Midterm Project  ·  BS Information System</a:t>
            </a:r>
          </a:p>
        </p:txBody>
      </p:sp>
      <p:sp>
        <p:nvSpPr>
          <p:cNvPr id="20" name="TextBox 19"/>
          <p:cNvSpPr txBox="1"/>
          <p:nvPr/>
        </p:nvSpPr>
        <p:spPr>
          <a:xfrm>
            <a:off x="10607040" y="6455664"/>
            <a:ext cx="960120" cy="274320"/>
          </a:xfrm>
          <a:prstGeom prst="rect">
            <a:avLst/>
          </a:prstGeom>
          <a:noFill/>
        </p:spPr>
        <p:txBody>
          <a:bodyPr wrap="square" lIns="0" rIns="0" tIns="0" bIns="0">
            <a:spAutoFit/>
          </a:bodyPr>
          <a:lstStyle/>
          <a:p>
            <a:pPr algn="r"/>
            <a:r>
              <a:rPr sz="900" b="0">
                <a:solidFill>
                  <a:srgbClr val="5A6B82"/>
                </a:solidFill>
                <a:latin typeface="Segoe UI"/>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3464</Words>
  <Application>Microsoft Office PowerPoint</Application>
  <PresentationFormat>Widescreen</PresentationFormat>
  <Paragraphs>517</Paragraphs>
  <Slides>32</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Harvy Baje</cp:lastModifiedBy>
  <cp:revision>3</cp:revision>
  <dcterms:created xsi:type="dcterms:W3CDTF">2013-01-27T09:14:16Z</dcterms:created>
  <dcterms:modified xsi:type="dcterms:W3CDTF">2026-10-16T02:08:31Z</dcterms:modified>
  <cp:category/>
</cp:coreProperties>
</file>